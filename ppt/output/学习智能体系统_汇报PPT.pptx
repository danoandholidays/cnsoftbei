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" y="0"/>
            <a:ext cx="50800" cy="6858000"/>
          </a:xfrm>
          <a:prstGeom prst="rect">
            <a:avLst/>
          </a:prstGeom>
          <a:solidFill>
            <a:srgbClr val="00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8000" y="1016000"/>
            <a:ext cx="1016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F4D4F"/>
                </a:solidFill>
                <a:latin typeface="微软雅黑"/>
              </a:rPr>
              <a:t>2026 中国软件杯 · A3 赛题参赛作品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778000"/>
            <a:ext cx="13970000" cy="1143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002766"/>
                </a:solidFill>
                <a:latin typeface="微软雅黑"/>
              </a:rPr>
              <a:t>学习智能体系统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0"/>
            <a:ext cx="13970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0">
                <a:solidFill>
                  <a:srgbClr val="595959"/>
                </a:solidFill>
                <a:latin typeface="微软雅黑"/>
              </a:rPr>
              <a:t>多智能体协同驱动的个性化学习平台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4191000"/>
            <a:ext cx="1016000" cy="381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4445000"/>
            <a:ext cx="13970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8C8C8C"/>
                </a:solidFill>
                <a:latin typeface="微软雅黑"/>
              </a:rPr>
              <a:t>Multi-Agent Driven Personalized Learning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4318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队伍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18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[队伍名称]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4673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学校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46736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[学校名称]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50292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汇报人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50292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[汇报人姓名]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53848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指导老师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" y="53848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[指导老师姓名]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57404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日期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57404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2026.07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60000" y="4826000"/>
            <a:ext cx="1524000" cy="1524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60000" y="5207000"/>
            <a:ext cx="1524000" cy="762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Learning
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01 章 项目导入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2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0668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目  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Table of Contents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286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1890FF"/>
                </a:solidFill>
                <a:latin typeface="微软雅黑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13000" y="2413000"/>
            <a:ext cx="38100" cy="762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67000" y="2413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项目导入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7000" y="2870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背景 · 赛题对标 · 设计目标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0" y="2641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1890FF"/>
                </a:solidFill>
                <a:latin typeface="微软雅黑"/>
              </a:rPr>
              <a:t>P. 1 - 5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429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1890FF"/>
                </a:solidFill>
                <a:latin typeface="微软雅黑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3000" y="3556000"/>
            <a:ext cx="38100" cy="762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7000" y="3556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系统设计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7000" y="4013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4 层架构 · 技术选型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00000" y="3784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1890FF"/>
                </a:solidFill>
                <a:latin typeface="微软雅黑"/>
              </a:rPr>
              <a:t>P. 6 - 7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6000" y="4572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FA8C16"/>
                </a:solidFill>
                <a:latin typeface="微软雅黑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3000" y="4699000"/>
            <a:ext cx="38100" cy="762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67000" y="4699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五大智能体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5156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画像 · 资源 · 路径 · 辅导 · 评估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00000" y="4927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FA8C16"/>
                </a:solidFill>
                <a:latin typeface="微软雅黑"/>
              </a:rPr>
              <a:t>P. 8 - 12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000" y="5715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722ED1"/>
                </a:solidFill>
                <a:latin typeface="微软雅黑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13000" y="5842000"/>
            <a:ext cx="38100" cy="762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7000" y="5842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关键技术深挖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67000" y="6299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多智能体 · 流式 · 双向同步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00000" y="6070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722ED1"/>
                </a:solidFill>
                <a:latin typeface="微软雅黑"/>
              </a:rPr>
              <a:t>P. 13 - 15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000" y="6858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13C2C2"/>
                </a:solidFill>
                <a:latin typeface="微软雅黑"/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3000" y="6985000"/>
            <a:ext cx="38100" cy="762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67000" y="6985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总结与展望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67000" y="7442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评估 · 创新点 · 未来方向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00000" y="7213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13C2C2"/>
                </a:solidFill>
                <a:latin typeface="微软雅黑"/>
              </a:rPr>
              <a:t>P. 16 - 19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01 章 项目导入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3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0668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AI 教育趋势 + 传统平台痛点 + 本项目定位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540000"/>
            <a:ext cx="457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766"/>
                </a:solidFill>
                <a:latin typeface="微软雅黑"/>
              </a:rPr>
              <a:t>AI 教育市场趋势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3111500"/>
            <a:ext cx="4572000" cy="101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3213100"/>
            <a:ext cx="4165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890FF"/>
                </a:solidFill>
                <a:latin typeface="微软雅黑"/>
              </a:rPr>
              <a:t>60%+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3670300"/>
            <a:ext cx="416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学生认为 AI 个性化辅导效果优于传统课堂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6000" y="4254500"/>
            <a:ext cx="4572000" cy="101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9200" y="4356100"/>
            <a:ext cx="4165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890FF"/>
                </a:solidFill>
                <a:latin typeface="微软雅黑"/>
              </a:rPr>
              <a:t>3 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4813300"/>
            <a:ext cx="416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近 2 年自适应学习平台用户增长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000" y="5397500"/>
            <a:ext cx="4572000" cy="101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9200" y="5499100"/>
            <a:ext cx="4165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890FF"/>
                </a:solidFill>
                <a:latin typeface="微软雅黑"/>
              </a:rPr>
              <a:t>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5956300"/>
            <a:ext cx="416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高校将引入 AI 教学辅助系统（2026 预测）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2540000"/>
            <a:ext cx="457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766"/>
                </a:solidFill>
                <a:latin typeface="微软雅黑"/>
              </a:rPr>
              <a:t>传统学习平台 3 大痛点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0" y="3175000"/>
            <a:ext cx="4572000" cy="889000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33020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1. 资源繁杂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36322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题库、视频、文档分散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6500" y="4318000"/>
            <a:ext cx="4191000" cy="889000"/>
          </a:xfrm>
          <a:prstGeom prst="rect">
            <a:avLst/>
          </a:prstGeom>
          <a:solidFill>
            <a:srgbClr val="FAA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0500" y="4445000"/>
            <a:ext cx="3683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2. 节奏统一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0500" y="4775200"/>
            <a:ext cx="3683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全班同一进度，难个性化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7000" y="5461000"/>
            <a:ext cx="3810000" cy="889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1000" y="5588000"/>
            <a:ext cx="330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3. 反馈滞后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000" y="5918200"/>
            <a:ext cx="330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错题几天后才讲评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0" y="25400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A8C16"/>
                </a:solidFill>
                <a:latin typeface="微软雅黑"/>
              </a:rPr>
              <a:t>本项目定位：4 大差异化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176000" y="3225800"/>
            <a:ext cx="101600" cy="50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0" y="3175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多智能体协同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34798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5 类智能体分工协作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176000" y="3987800"/>
            <a:ext cx="101600" cy="50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0" y="3937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6 维动态画像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42418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随学随新、贴合个体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176000" y="4749800"/>
            <a:ext cx="101600" cy="50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0" y="4699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结构化路径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0" y="50038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题库/模块双向同步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176000" y="5511800"/>
            <a:ext cx="101600" cy="50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0" y="5461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流式可视化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57658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思考过程可折叠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01 章 项目导入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4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0668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赛题对标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A3 赛题 5 项功能 + 4 项非功能需求 → 本项目实现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286000"/>
            <a:ext cx="381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890FF"/>
                </a:solidFill>
                <a:latin typeface="微软雅黑"/>
              </a:rPr>
              <a:t>▶ 功能需求（5 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7305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7600" y="27813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A3 赛题需求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0000" y="27305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1600" y="27813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本项目实现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35000" y="27305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36600" y="27813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PPT 页码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000" y="30861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600" y="31369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1. 对话式学习画像（≥6 维度）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30861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1600" y="31369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Profile 页 / 6 维度 / 随学随新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335000" y="30861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436600" y="31369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6000" y="34417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600" y="34925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2. 多智能体协同资源生成（≥5 类）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0000" y="34417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600" y="34925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Resource 页 / 6 类 / MultiAgentScheduler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35000" y="34417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36600" y="34925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#9 / #13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6000" y="37973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600" y="38481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3. 个性化学习路径规划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0000" y="37973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1600" y="38481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Path 页 / AI 自由生成 + 12 预定义结构化路径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335000" y="37973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436600" y="38481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6000" y="41529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7600" y="42037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4. 智能辅导（可选加分）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0000" y="41529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1600" y="42037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Tutor 页 / 4 种解答模式 / 追问链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35000" y="41529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436600" y="42037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6000" y="45085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7600" y="45593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5. 学习效果评估（可选加分）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0000" y="45085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51600" y="45593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Assessment 页 / 真实进度 / 能力雷达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335000" y="45085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436600" y="45593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000" y="4660900"/>
            <a:ext cx="381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A8C16"/>
                </a:solidFill>
                <a:latin typeface="微软雅黑"/>
              </a:rPr>
              <a:t>▶ 非功能需求（4 项）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16000" y="50165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17600" y="50673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A3 赛题需求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0000" y="50165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1600" y="50673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本项目实现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335000" y="50165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436600" y="50673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PPT 页码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6000" y="53721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7600" y="54229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流式输出 / Markdown / 卡片化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0000" y="53721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51600" y="54229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streamChatCompletion / MarkdownRenderer / Card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3335000" y="53721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436600" y="54229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#14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6000" y="57277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17600" y="57785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开源协议标注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0000" y="57277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51600" y="57785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第 19 页致谢中列出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3335000" y="57277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436600" y="57785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#19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6000" y="60833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17600" y="61341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防幻觉机制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50000" y="60833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51600" y="61341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题库预写 / AI 判分参考答案 / 引用追溯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335000" y="60833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436600" y="61341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6000" y="64389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17600" y="64897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响应时间 / 进度追踪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350000" y="64389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1600" y="64897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多智能体协作实时状态 + 流式增量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335000" y="64389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3436600" y="64897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#9 / #14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6000" y="7683500"/>
            <a:ext cx="13843000" cy="762000"/>
          </a:xfrm>
          <a:prstGeom prst="roundRect">
            <a:avLst>
              <a:gd name="adj" fmla="val 5000"/>
            </a:avLst>
          </a:prstGeom>
          <a:solidFill>
            <a:srgbClr val="E6F4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70000" y="7785100"/>
            <a:ext cx="13335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✓ A3 赛题 5+4 项需求全部实现，可选加分项（辅导/评估）均超额完成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70000" y="8089900"/>
            <a:ext cx="13335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890FF"/>
                </a:solidFill>
                <a:latin typeface="微软雅黑"/>
              </a:rPr>
              <a:t>✓ 5 个创新点详见第 17 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01 章 项目导入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5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0668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需求与设计目标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5 个核心需求 + 4 条设计原则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286000"/>
            <a:ext cx="508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890FF"/>
                </a:solidFill>
                <a:latin typeface="微软雅黑"/>
              </a:rPr>
              <a:t>5 个核心需求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794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16000" y="2794000"/>
            <a:ext cx="101600" cy="762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70000" y="2895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895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画像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00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6 维度对话式构建，随学随新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6000" y="3683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16000" y="3683000"/>
            <a:ext cx="101600" cy="7620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70000" y="3784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52C41A"/>
                </a:solidFill>
                <a:latin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784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资源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089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6 类资源多智能体协作生成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6000" y="4572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6000" y="4572000"/>
            <a:ext cx="101600" cy="762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70000" y="4673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890FF"/>
                </a:solidFill>
                <a:latin typeface="微软雅黑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673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路径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978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AI 生成 + 12 预定义结构化路径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6000" y="5461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6000" y="5461000"/>
            <a:ext cx="101600" cy="762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70000" y="5562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722ED1"/>
                </a:solidFill>
                <a:latin typeface="微软雅黑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562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辅导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867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4 模式 + 追问链 + 画像注入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6000" y="6350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6000" y="6350000"/>
            <a:ext cx="101600" cy="762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70000" y="6451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3C2C2"/>
                </a:solidFill>
                <a:latin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6451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评估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6756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真实进度同步 + 能力雷达 + 建议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2286000"/>
            <a:ext cx="6731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A8C16"/>
                </a:solidFill>
                <a:latin typeface="微软雅黑"/>
              </a:rPr>
              <a:t>4 条设计原则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8000" y="2794000"/>
            <a:ext cx="3175000" cy="139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28000" y="2794000"/>
            <a:ext cx="3175000" cy="762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1200" y="3048000"/>
            <a:ext cx="27686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890FF"/>
                </a:solidFill>
                <a:latin typeface="微软雅黑"/>
              </a:rPr>
              <a:t>个性化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1200" y="3492500"/>
            <a:ext cx="2768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画像驱动所有下游智能体决策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557000" y="2794000"/>
            <a:ext cx="3175000" cy="139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57000" y="2794000"/>
            <a:ext cx="3175000" cy="762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760200" y="3048000"/>
            <a:ext cx="27686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微软雅黑"/>
              </a:rPr>
              <a:t>多智能体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60200" y="3492500"/>
            <a:ext cx="2768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5 类智能体职责清晰、可组合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28000" y="4445000"/>
            <a:ext cx="3175000" cy="139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28000" y="4445000"/>
            <a:ext cx="3175000" cy="762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31200" y="4699000"/>
            <a:ext cx="27686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722ED1"/>
                </a:solidFill>
                <a:latin typeface="微软雅黑"/>
              </a:rPr>
              <a:t>流式交互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31200" y="5143500"/>
            <a:ext cx="2768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打字机效果 + 思考过程可视化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57000" y="4445000"/>
            <a:ext cx="3175000" cy="139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557000" y="4445000"/>
            <a:ext cx="3175000" cy="762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60200" y="4699000"/>
            <a:ext cx="27686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3C2C2"/>
                </a:solidFill>
                <a:latin typeface="微软雅黑"/>
              </a:rPr>
              <a:t>数据闭环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60200" y="5143500"/>
            <a:ext cx="2768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做题反馈回流画像、画像驱动推荐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6000" y="8001000"/>
            <a:ext cx="13843000" cy="508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6000" y="8001000"/>
            <a:ext cx="13843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让每个学生都拥有自己的 AI 学习智能体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02 章 系统设计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6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0668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总体架构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4 层架构：表现层 → API 网关 → 多智能体框架 → 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1778000" y="2413000"/>
            <a:ext cx="152400" cy="12065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32000" y="2413000"/>
            <a:ext cx="11430000" cy="12065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6035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890FF"/>
                </a:solidFill>
                <a:latin typeface="微软雅黑"/>
              </a:rPr>
              <a:t>表现层 (Presentation)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226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</a:rPr>
              <a:t>React 19 + TypeScript + Vite + Ant Design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27000" y="26035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600" b="1">
                <a:solidFill>
                  <a:srgbClr val="1890FF"/>
                </a:solidFill>
                <a:latin typeface="微软雅黑"/>
              </a:rPr>
              <a:t>L1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47000" y="3721100"/>
            <a:ext cx="0" cy="177800"/>
          </a:xfrm>
          <a:prstGeom prst="line">
            <a:avLst/>
          </a:prstGeom>
          <a:ln w="25400">
            <a:solidFill>
              <a:srgbClr val="1890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778000" y="4000500"/>
            <a:ext cx="152400" cy="1206500"/>
          </a:xfrm>
          <a:prstGeom prst="rect">
            <a:avLst/>
          </a:prstGeom>
          <a:solidFill>
            <a:srgbClr val="925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32000" y="4000500"/>
            <a:ext cx="11430000" cy="12065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925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41910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9254DE"/>
                </a:solidFill>
                <a:latin typeface="微软雅黑"/>
              </a:rPr>
              <a:t>API 网关 (Gateway)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6101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</a:rPr>
              <a:t>Vite dev proxy: /anthropic → api.minimaxi.com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27000" y="41910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600" b="1">
                <a:solidFill>
                  <a:srgbClr val="9254DE"/>
                </a:solidFill>
                <a:latin typeface="微软雅黑"/>
              </a:rPr>
              <a:t>L2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47000" y="5308600"/>
            <a:ext cx="0" cy="177800"/>
          </a:xfrm>
          <a:prstGeom prst="line">
            <a:avLst/>
          </a:prstGeom>
          <a:ln w="25400">
            <a:solidFill>
              <a:srgbClr val="9254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778000" y="5588000"/>
            <a:ext cx="152400" cy="12065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32000" y="5588000"/>
            <a:ext cx="11430000" cy="12065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0" y="57785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微软雅黑"/>
              </a:rPr>
              <a:t>多智能体框架 (Multi-Agent)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61976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</a:rPr>
              <a:t>MultiAgentScheduler  ·  5 类智能体  ·  事件总线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27000" y="57785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600" b="1">
                <a:solidFill>
                  <a:srgbClr val="FA8C16"/>
                </a:solidFill>
                <a:latin typeface="微软雅黑"/>
              </a:rPr>
              <a:t>L3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47000" y="6896100"/>
            <a:ext cx="0" cy="177800"/>
          </a:xfrm>
          <a:prstGeom prst="line">
            <a:avLst/>
          </a:prstGeom>
          <a:ln w="25400">
            <a:solidFill>
              <a:srgbClr val="FA8C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778000" y="7175500"/>
            <a:ext cx="152400" cy="12065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032000" y="7175500"/>
            <a:ext cx="11430000" cy="12065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73660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52C41A"/>
                </a:solidFill>
                <a:latin typeface="微软雅黑"/>
              </a:rPr>
              <a:t>数据层 (Data)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77851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</a:rPr>
              <a:t>localStorage  ·  题库 JSON（12 库 576 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27000" y="73660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600" b="1">
                <a:solidFill>
                  <a:srgbClr val="52C41A"/>
                </a:solidFill>
                <a:latin typeface="微软雅黑"/>
              </a:rPr>
              <a:t>L4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90000" y="8128000"/>
            <a:ext cx="6350000" cy="635000"/>
          </a:xfrm>
          <a:prstGeom prst="roundRect">
            <a:avLst>
              <a:gd name="adj" fmla="val 5000"/>
            </a:avLst>
          </a:prstGeom>
          <a:solidFill>
            <a:srgbClr val="E6F4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8229600"/>
            <a:ext cx="5842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✓ 全栈可本地运行：npm run dev 一行启动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8483600"/>
            <a:ext cx="5842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890FF"/>
                </a:solidFill>
                <a:latin typeface="微软雅黑"/>
              </a:rPr>
              <a:t>✓ 无外部数据库依赖（localStorage 持久化）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02 章 系统设计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7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0668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技术选型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主流成熟框架 + 大模型 API + 轻量数据可视化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6000" y="2540000"/>
            <a:ext cx="4572000" cy="508000"/>
          </a:xfrm>
          <a:prstGeom prst="roundRect">
            <a:avLst>
              <a:gd name="adj" fmla="val 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前端框架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000" y="31750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8400" y="3276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React 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400" y="3606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最新稳定版，Concurrent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6000" y="40894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8400" y="4191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TypeScript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8400" y="4521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类型安全，IDE 智能提示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6000" y="50038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8400" y="5105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Vite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8400" y="5435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极速冷启动 + HMR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6000" y="59182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68400" y="6019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Ant Design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8400" y="6350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企业级 UI 组件库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6000" y="68326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8400" y="6934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PageCache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8400" y="7264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手动 useState 路由 + useRef 缓存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42000" y="2540000"/>
            <a:ext cx="4572000" cy="508000"/>
          </a:xfrm>
          <a:prstGeom prst="roundRect">
            <a:avLst>
              <a:gd name="adj" fmla="val 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42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AI 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42000" y="31750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94400" y="3276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大模型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94400" y="3606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兼容 Anthropic 协议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42000" y="40894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94400" y="4191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SSE 流式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94400" y="4521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ReadableStream 打字机效果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42000" y="50038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94400" y="5105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AbortSignal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94400" y="5435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支持中途取消请求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42000" y="59182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94400" y="6019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Prompt 工程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4400" y="6350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5 类系统 prompt 注入画像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42000" y="68326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94400" y="6934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重试 + 超时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94400" y="7264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axios 3 次重试 / 3 分钟超时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668000" y="2540000"/>
            <a:ext cx="4572000" cy="508000"/>
          </a:xfrm>
          <a:prstGeom prst="roundRect">
            <a:avLst>
              <a:gd name="adj" fmla="val 5000"/>
            </a:avLst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68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数据可视化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68000" y="31750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20400" y="3276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Recharts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20400" y="3606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React 原生 + 声明式 API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68000" y="40894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20400" y="4191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雷达图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20400" y="4521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6 维度能力评估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68000" y="50038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820400" y="5105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统计卡片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20400" y="5435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Antd Statistic 组件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68000" y="59182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20400" y="6019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时间线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0400" y="6350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Antd Timeline 智能建议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668000" y="68326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820400" y="6934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进度条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20400" y="7264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Antd Progress 模块进度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8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画像构建智能体 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Profile Agent</a:t>
            </a:r>
          </a:p>
        </p:txBody>
      </p:sp>
      <p:pic>
        <p:nvPicPr>
          <p:cNvPr id="10" name="Picture 9" descr="PixPin_2026-06-15_10-34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727837"/>
            <a:ext cx="7112000" cy="419632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FA8C16"/>
                </a:solidFill>
                <a:latin typeface="微软雅黑"/>
              </a:rPr>
              <a:t>▶ 角色定位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通过对话式交互理解学习者，构建 6 维动态画像；随学习过程持续更新。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FA8C16"/>
                </a:solidFill>
                <a:latin typeface="微软雅黑"/>
              </a:rPr>
              <a:t>▶ 核心能力（6 维画像）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9200" y="41148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2400" y="40640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知识基础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141200" y="41148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0" y="40640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认知风格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39200" y="45212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42400" y="44704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易错偏好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141200" y="45212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0" y="44704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学习节奏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9200" y="49276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42400" y="48768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兴趣方向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141200" y="49276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0" y="48768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学习习惯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FA8C16"/>
                </a:solidFill>
                <a:latin typeface="微软雅黑"/>
              </a:rPr>
              <a:t>▶ 关键特性：随学随新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对话式构建：自然语言输入
• 持久化到 localStorage，跨页面共享
• 做题反馈回流画像（practiceGrader 派发事件）
• 系统 prompt 注入到所有下游智能体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9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资源生成智能体 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Resource Agent</a:t>
            </a:r>
          </a:p>
        </p:txBody>
      </p:sp>
      <p:pic>
        <p:nvPicPr>
          <p:cNvPr id="10" name="Picture 9" descr="PixPin_2026-06-15_10-35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839373"/>
            <a:ext cx="7112000" cy="397325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52C41A"/>
                </a:solidFill>
                <a:latin typeface="微软雅黑"/>
              </a:rPr>
              <a:t>▶ 角色定位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基于画像为每个学习主题生成 6 类定制资源，多智能体协作流水线。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52C41A"/>
                </a:solidFill>
                <a:latin typeface="微软雅黑"/>
              </a:rPr>
              <a:t>▶ 6 种资源类型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9200" y="41148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2400" y="40640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文档 (document)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141200" y="41148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0" y="40640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思维导图 (mindmap)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39200" y="45212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42400" y="44704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测验 (quiz)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141200" y="45212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0" y="44704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阅读 (reading)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9200" y="49276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42400" y="48768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视频脚本 (video)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141200" y="49276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0" y="48768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代码案例 (codeCase)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52C41A"/>
                </a:solidFill>
                <a:latin typeface="微软雅黑"/>
              </a:rPr>
              <a:t>▶ 多智能体协作（实时状态）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planner 拆任务 → 5 类 worker 并行
• SSE 流式回传各 worker 状态（pending/running/done）
• 失败自动重试，最多 3 次
• 全部完成前允许用户中断（AbortSignal）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10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路径规划智能体 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Path Agent</a:t>
            </a:r>
          </a:p>
        </p:txBody>
      </p:sp>
      <p:pic>
        <p:nvPicPr>
          <p:cNvPr id="10" name="Picture 9" descr="PixPin_2026-06-15_10-36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727837"/>
            <a:ext cx="7112000" cy="419632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890FF"/>
                </a:solidFill>
                <a:latin typeface="微软雅黑"/>
              </a:rPr>
              <a:t>▶ 角色定位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根据画像生成结构化学习路径，将知识点对应到题库的具体模块。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890FF"/>
                </a:solidFill>
                <a:latin typeface="微软雅黑"/>
              </a:rPr>
              <a:t>▶ 双轨模式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39200" y="4064000"/>
            <a:ext cx="6451600" cy="152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AI 自由生成：流式输出节点列表
• 12 条预定义结构化路径：一键采用
• StructuredLearningNode：每节点绑定 questionBankId + moduleId
• 80% 阈值：模块完成度达 80% 自动标记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890FF"/>
                </a:solidFill>
                <a:latin typeface="微软雅黑"/>
              </a:rPr>
              <a:t>▶ 双向同步（路径 ↔ 练习）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Practice 页按 activeStructuredPath 过滤模块
• 路径 banner 提示当前激活路径
• 自定义事件 moduleProgressUpdated 实时同步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11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辅导答疑智能体 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Tutor Agent</a:t>
            </a:r>
          </a:p>
        </p:txBody>
      </p:sp>
      <p:pic>
        <p:nvPicPr>
          <p:cNvPr id="10" name="Picture 9" descr="PixPin_2026-06-15_10-37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839373"/>
            <a:ext cx="7112000" cy="397325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722ED1"/>
                </a:solidFill>
                <a:latin typeface="微软雅黑"/>
              </a:rPr>
              <a:t>▶ 角色定位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一对一智能辅导，根据画像调整回答风格和深度；支持追问链。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722ED1"/>
                </a:solidFill>
                <a:latin typeface="微软雅黑"/>
              </a:rPr>
              <a:t>▶ 4 种解答模式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9200" y="4114800"/>
            <a:ext cx="1016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2400" y="4064000"/>
            <a:ext cx="889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文字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31400" y="40640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Markdown 渲染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41200" y="4114800"/>
            <a:ext cx="1016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0" y="4064000"/>
            <a:ext cx="889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图解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33400" y="40640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Mermaid/ASCII 流程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39200" y="4622800"/>
            <a:ext cx="1016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42400" y="4572000"/>
            <a:ext cx="889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31400" y="45720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脚本 + 时间戳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141200" y="4622800"/>
            <a:ext cx="1016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44400" y="4572000"/>
            <a:ext cx="889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33400" y="45720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可执行片段 + 注释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722ED1"/>
                </a:solidFill>
                <a:latin typeface="微软雅黑"/>
              </a:rPr>
              <a:t>▶ 工程优化（5 项）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画像注入 system prompt
• 缓存去重（问题+模式双键）
• 追问链 parentId/followUpIds
• 点踩重新生成（含原因分析）
• AbortSignal 取消未完成请求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效果评估智能体 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Assessment Agent  ·  注：Assessment 截图缺失，此处用 mockup 替代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032000"/>
            <a:ext cx="7874000" cy="635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70000" y="2286000"/>
            <a:ext cx="1651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70000" y="2286000"/>
            <a:ext cx="50800" cy="889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2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126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2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已做题数 (题)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75000" y="2286000"/>
            <a:ext cx="1651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75000" y="2286000"/>
            <a:ext cx="50800" cy="8890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27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正确率 (%)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0000" y="2286000"/>
            <a:ext cx="1651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0000" y="2286000"/>
            <a:ext cx="50800" cy="889000"/>
          </a:xfrm>
          <a:prstGeom prst="rect">
            <a:avLst/>
          </a:prstGeom>
          <a:solidFill>
            <a:srgbClr val="FAA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2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2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学习时长 (小时)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85000" y="2286000"/>
            <a:ext cx="1651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85000" y="2286000"/>
            <a:ext cx="50800" cy="889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7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7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连续天数 (天)</a:t>
            </a:r>
          </a:p>
        </p:txBody>
      </p:sp>
      <p:pic>
        <p:nvPicPr>
          <p:cNvPr id="27" name="Picture 26" descr="_mock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3429000"/>
            <a:ext cx="3556000" cy="4699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080000" y="3429000"/>
            <a:ext cx="3556000" cy="469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83200" y="3581400"/>
            <a:ext cx="3149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766"/>
                </a:solidFill>
                <a:latin typeface="微软雅黑"/>
              </a:rPr>
              <a:t>智能学习建议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0" y="4165600"/>
            <a:ext cx="127000" cy="1270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7200" y="4064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52C41A"/>
                </a:solidFill>
                <a:latin typeface="微软雅黑"/>
              </a:rPr>
              <a:t>知识基础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0" y="4064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基础扎实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34000" y="4673600"/>
            <a:ext cx="127000" cy="127000"/>
          </a:xfrm>
          <a:prstGeom prst="rect">
            <a:avLst/>
          </a:prstGeom>
          <a:solidFill>
            <a:srgbClr val="FAA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7200" y="4572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AAD14"/>
                </a:solidFill>
                <a:latin typeface="微软雅黑"/>
              </a:rPr>
              <a:t>易错偏好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0" y="4572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易错于装饰器，建议专项练习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0" y="5181600"/>
            <a:ext cx="127000" cy="127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7200" y="5080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学习节奏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5080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建议每天 45 分钟连续学习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5689600"/>
            <a:ext cx="127000" cy="127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7200" y="5588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兴趣方向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0" y="5588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倾向 Web 开发，可拓展前后端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98000" y="2032000"/>
            <a:ext cx="6096000" cy="1905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0" y="2159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3C2C2"/>
                </a:solidFill>
                <a:latin typeface="微软雅黑"/>
              </a:rPr>
              <a:t>▶ 真实进度同步（不造假）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2489200"/>
            <a:ext cx="5689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直接读取 practiceState（练习页写入）
• 监听 practiceStateUpdated 事件
• 无练习记录时显示引导提示
• 4 个统计卡 + 模块进度卡全基于真实数据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0" y="4064000"/>
            <a:ext cx="6096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4191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3C2C2"/>
                </a:solidFill>
                <a:latin typeface="微软雅黑"/>
              </a:rPr>
              <a:t>▶ 能力雷达（6 维）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4546600"/>
            <a:ext cx="5689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知识基础 · 认知风格 · 易错偏好
• 学习节奏 · 兴趣方向 · 学习习惯
• Recharts RadarChart 实时更新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98000" y="6096000"/>
            <a:ext cx="60960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0" y="6223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3C2C2"/>
                </a:solidFill>
                <a:latin typeface="微软雅黑"/>
              </a:rPr>
              <a:t>▶ 智能调整建议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0" y="6578600"/>
            <a:ext cx="56896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薄弱维度专项练习
• 节奏建议（每日学习时长）
• 兴趣方向 → 相关路径推荐
• 整体调整：放慢/加速/转向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04 章 关键技术深挖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关键技术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64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多智能体协同框架（Multi-Agent Scheduler）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6400" y="1422400"/>
            <a:ext cx="1143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统一调度 5 类智能体，支持单智能体执行 / 流水线式协作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159000"/>
            <a:ext cx="711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▶ MultiAgentScheduler 核心类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6000" y="2540000"/>
            <a:ext cx="7112000" cy="3556000"/>
          </a:xfrm>
          <a:prstGeom prst="rect">
            <a:avLst/>
          </a:prstGeom>
          <a:solidFill>
            <a:srgbClr val="1E1E1E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6000" y="2540000"/>
            <a:ext cx="762000" cy="25400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6000" y="2540000"/>
            <a:ext cx="762000" cy="254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微软雅黑"/>
              </a:rPr>
              <a:t>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8400" y="2870200"/>
            <a:ext cx="6807200" cy="3124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i="0">
                <a:solidFill>
                  <a:srgbClr val="C586C0"/>
                </a:solidFill>
                <a:latin typeface="Consolas"/>
              </a:rPr>
              <a:t>class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MultiAgentScheduler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private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Map</a:t>
            </a:r>
            <a:r>
              <a:rPr sz="1000" i="0">
                <a:solidFill>
                  <a:srgbClr val="D4D4D4"/>
                </a:solidFill>
                <a:latin typeface="Consolas"/>
              </a:rPr>
              <a:t>&lt;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&gt;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private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eventBus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EventEmitter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registerAgent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set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eventBus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on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E9178"/>
                </a:solidFill>
                <a:latin typeface="Consolas"/>
              </a:rPr>
              <a:t>`${role}:done`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onAgentDone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async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runPipeline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Promise</a:t>
            </a:r>
            <a:r>
              <a:rPr sz="1000" i="0">
                <a:solidFill>
                  <a:srgbClr val="D4D4D4"/>
                </a:solidFill>
                <a:latin typeface="Consolas"/>
              </a:rPr>
              <a:t>&lt;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&gt;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queue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tasks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results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while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queue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length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queue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shift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get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await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execute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controller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push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eventBus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emit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E9178"/>
                </a:solidFill>
                <a:latin typeface="Consolas"/>
              </a:rPr>
              <a:t>`${task.role}:done`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return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results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▶ 5 智能体协作流水线（资源生成为例）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995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planner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5885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01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document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5791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6807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mindmap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5697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16713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quiz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5603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26619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reading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5509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36525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video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45415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46431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codeCase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99500" y="4064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90000" y="4191000"/>
            <a:ext cx="6477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▶ 状态机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4521200"/>
            <a:ext cx="6477000" cy="152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• planner 拆任务 → 派发给 6 个 worker
• worker 状态：pending → running → done/failed
• 失败自动重试 3 次
• 事件总线广播进度，UI 实时更新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6000" y="7747000"/>
            <a:ext cx="14351000" cy="762000"/>
          </a:xfrm>
          <a:prstGeom prst="roundRect">
            <a:avLst>
              <a:gd name="adj" fmla="val 5000"/>
            </a:avLst>
          </a:prstGeom>
          <a:solidFill>
            <a:srgbClr val="E6F4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0000" y="7874000"/>
            <a:ext cx="13843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✓ 关键设计：智能体之间解耦（仅通过事件总线通信），便于新增第 6、第 7 类智能体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0000" y="8153400"/>
            <a:ext cx="13843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890FF"/>
                </a:solidFill>
                <a:latin typeface="微软雅黑"/>
              </a:rPr>
              <a:t>✓ 复用：ResourceGenerator 在 MultiAgentScheduler 之上封装，代码减少 40%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04 章 关键技术深挖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关键技术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64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流式输出与思考过程可视化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6400" y="1422400"/>
            <a:ext cx="1143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SSE + ReadableStream 打字机效果；思考过程可折叠；支持中途取消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2286000"/>
            <a:ext cx="7620000" cy="3810000"/>
          </a:xfrm>
          <a:prstGeom prst="rect">
            <a:avLst/>
          </a:prstGeom>
          <a:solidFill>
            <a:srgbClr val="1E1E1E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6000" y="2286000"/>
            <a:ext cx="762000" cy="25400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6000" y="2286000"/>
            <a:ext cx="762000" cy="254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微软雅黑"/>
              </a:rPr>
              <a:t>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8400" y="2616200"/>
            <a:ext cx="7315200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i="0">
                <a:solidFill>
                  <a:srgbClr val="C586C0"/>
                </a:solidFill>
                <a:latin typeface="Consolas"/>
              </a:rPr>
              <a:t>async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function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streamChatCompletion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messages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Message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callbacks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onChunk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onThinking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?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AbortSignal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await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fetch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E9178"/>
                </a:solidFill>
                <a:latin typeface="Consolas"/>
              </a:rPr>
              <a:t>'/anthropic/v1/messages'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method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'POST'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headers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'Content-Type'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'application/json'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body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JSON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stringify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model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messages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stream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true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关键：支持取消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reader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body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getReader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decoder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new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TextDecoder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while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586C0"/>
                </a:solidFill>
                <a:latin typeface="Consolas"/>
              </a:rPr>
              <a:t>true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done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value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await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reader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read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if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done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break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text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decoder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decode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value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解析 SSE 事件，区分 thinking / content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for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of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parseSSE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text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if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C586C0"/>
                </a:solidFill>
                <a:latin typeface="Consolas"/>
              </a:rPr>
              <a:t>type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'thinking'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callbacks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onThinking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delta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else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if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C586C0"/>
                </a:solidFill>
                <a:latin typeface="Consolas"/>
              </a:rPr>
              <a:t>type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'content'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callbacks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onChunk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delta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pic>
        <p:nvPicPr>
          <p:cNvPr id="15" name="Picture 14" descr="PixPin_2026-06-15_10-36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6851866"/>
            <a:ext cx="7620000" cy="128226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44000" y="2286000"/>
            <a:ext cx="6223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2286000"/>
            <a:ext cx="76200" cy="1905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47200" y="2438400"/>
            <a:ext cx="5816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890FF"/>
                </a:solidFill>
                <a:latin typeface="微软雅黑"/>
              </a:rPr>
              <a:t>▶ 打字机效果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7200" y="2895600"/>
            <a:ext cx="5816600" cy="1219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逐 chunk 调用 setState，每帧渲染新字符。
视觉上像 ChatGPT 一样逐字出现。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445000"/>
            <a:ext cx="6223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4445000"/>
            <a:ext cx="76200" cy="1905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7200" y="4597400"/>
            <a:ext cx="5816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A8C16"/>
                </a:solidFill>
                <a:latin typeface="微软雅黑"/>
              </a:rPr>
              <a:t>▶ 思考过程可折叠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7200" y="5054600"/>
            <a:ext cx="5816600" cy="1219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AI 输出的 &lt;thinking&gt; 块折叠在"💭 思考过程" 标签下。
默认折叠，用户点击展开看推理细节。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6604000"/>
            <a:ext cx="6223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6604000"/>
            <a:ext cx="76200" cy="1905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7200" y="6756400"/>
            <a:ext cx="5816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722ED1"/>
                </a:solidFill>
                <a:latin typeface="微软雅黑"/>
              </a:rPr>
              <a:t>▶ AbortSignal 取消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7200" y="7213600"/>
            <a:ext cx="5816600" cy="1219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流式中点击取消 → 触发 controller.abort()。
fetch 立即中断，UI 显示"已取消"状态。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04 章 关键技术深挖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关键技术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64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路径 ↔ 练习 双向同步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6400" y="1422400"/>
            <a:ext cx="1143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StructuredLearningNode + localStorage 事件 + 80% 完成度阈值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159000"/>
            <a:ext cx="137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▶ 数据流图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2794000"/>
            <a:ext cx="2286000" cy="889000"/>
          </a:xfrm>
          <a:prstGeom prst="roundRect">
            <a:avLst>
              <a:gd name="adj" fmla="val 1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Path 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794000"/>
            <a:ext cx="2286000" cy="889000"/>
          </a:xfrm>
          <a:prstGeom prst="roundRect">
            <a:avLst>
              <a:gd name="adj" fmla="val 1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localStorage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8000" y="2794000"/>
            <a:ext cx="2286000" cy="889000"/>
          </a:xfrm>
          <a:prstGeom prst="roundRect">
            <a:avLst>
              <a:gd name="adj" fmla="val 15000"/>
            </a:avLst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Practice 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684000" y="2794000"/>
            <a:ext cx="2286000" cy="889000"/>
          </a:xfrm>
          <a:prstGeom prst="roundRect">
            <a:avLst>
              <a:gd name="adj" fmla="val 15000"/>
            </a:avLst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Assessment 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02000" y="3238500"/>
            <a:ext cx="1270000" cy="0"/>
          </a:xfrm>
          <a:prstGeom prst="line">
            <a:avLst/>
          </a:prstGeom>
          <a:ln w="25400">
            <a:solidFill>
              <a:srgbClr val="722E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858000" y="3238500"/>
            <a:ext cx="1270000" cy="0"/>
          </a:xfrm>
          <a:prstGeom prst="line">
            <a:avLst/>
          </a:prstGeom>
          <a:ln w="25400">
            <a:solidFill>
              <a:srgbClr val="722E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14000" y="3238500"/>
            <a:ext cx="1270000" cy="0"/>
          </a:xfrm>
          <a:prstGeom prst="line">
            <a:avLst/>
          </a:prstGeom>
          <a:ln w="25400">
            <a:solidFill>
              <a:srgbClr val="722E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6000" y="37846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微软雅黑"/>
              </a:rPr>
              <a:t>写入 activeStructuredPath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846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微软雅黑"/>
              </a:rPr>
              <a:t>单一数据源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37846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微软雅黑"/>
              </a:rPr>
              <a:t>读取 + 过滤模块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84000" y="37846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微软雅黑"/>
              </a:rPr>
              <a:t>读取 + 进度展示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12954000" y="2667000"/>
            <a:ext cx="0" cy="1117600"/>
          </a:xfrm>
          <a:prstGeom prst="line">
            <a:avLst/>
          </a:prstGeom>
          <a:ln w="19050">
            <a:solidFill>
              <a:srgbClr val="13C2C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160000" y="4064000"/>
            <a:ext cx="355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13C2C2"/>
                </a:solidFill>
                <a:latin typeface="微软雅黑"/>
              </a:rPr>
              <a:t>做题结果回流 → 画像更新 → 推荐新路径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6000" y="4953000"/>
            <a:ext cx="7620000" cy="2794000"/>
          </a:xfrm>
          <a:prstGeom prst="rect">
            <a:avLst/>
          </a:prstGeom>
          <a:solidFill>
            <a:srgbClr val="1E1E1E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6000" y="4953000"/>
            <a:ext cx="762000" cy="25400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6000" y="4953000"/>
            <a:ext cx="762000" cy="254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微软雅黑"/>
              </a:rPr>
              <a:t>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8400" y="5283200"/>
            <a:ext cx="7315200" cy="2362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i="0">
                <a:solidFill>
                  <a:srgbClr val="C586C0"/>
                </a:solidFill>
                <a:latin typeface="Consolas"/>
              </a:rPr>
              <a:t>interface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StructuredLearningNode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id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title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questionBankId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关键：关联题库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moduleId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关键：关联模块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moduleName</a:t>
            </a:r>
            <a:r>
              <a:rPr sz="1000" i="0">
                <a:solidFill>
                  <a:srgbClr val="D4D4D4"/>
                </a:solidFill>
                <a:latin typeface="Consolas"/>
              </a:rPr>
              <a:t>?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isEntry</a:t>
            </a:r>
            <a:r>
              <a:rPr sz="1000" i="0">
                <a:solidFill>
                  <a:srgbClr val="D4D4D4"/>
                </a:solidFill>
                <a:latin typeface="Consolas"/>
              </a:rPr>
              <a:t>?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boolean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valid</a:t>
            </a:r>
            <a:r>
              <a:rPr sz="1000" i="0">
                <a:solidFill>
                  <a:srgbClr val="D4D4D4"/>
                </a:solidFill>
                <a:latin typeface="Consolas"/>
              </a:rPr>
              <a:t>?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boolean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引用校验结果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THRESHOLD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B5CEA8"/>
                </a:solidFill>
                <a:latin typeface="Consolas"/>
              </a:rPr>
              <a:t>0.8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完成度阈值</a:t>
            </a:r>
          </a:p>
          <a:p>
            <a:pPr algn="l">
              <a:lnSpc>
                <a:spcPct val="125000"/>
              </a:lnSpc>
            </a:pPr>
            <a:r>
              <a:rPr sz="1000"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000" i="1">
                <a:solidFill>
                  <a:srgbClr val="6A9955"/>
                </a:solidFill>
                <a:latin typeface="Consolas"/>
              </a:rPr>
              <a:t>// 做完题后 dispatch 事件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window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dispatchEvent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new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CustomEvent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E9178"/>
                </a:solidFill>
                <a:latin typeface="Consolas"/>
              </a:rPr>
              <a:t>'moduleProgressUpdated'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detail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moduleId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correctRate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4953000"/>
            <a:ext cx="6223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7200" y="50546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890FF"/>
                </a:solidFill>
                <a:latin typeface="微软雅黑"/>
              </a:rPr>
              <a:t>12 题库 × 48 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0" y="5105400"/>
            <a:ext cx="3937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576 道题全预写，AI 只判分不生成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5969000"/>
            <a:ext cx="6223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47200" y="60706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A8C16"/>
                </a:solidFill>
                <a:latin typeface="微软雅黑"/>
              </a:rPr>
              <a:t>80% 阈值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76000" y="6121400"/>
            <a:ext cx="3937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模块完成度达 80% 自动标记为 done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6985000"/>
            <a:ext cx="6223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47200" y="70866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customEvent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6000" y="7137400"/>
            <a:ext cx="3937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解耦通信，跨页面 / 跨组件零依赖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05 章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16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0668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系统评估与测试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题库覆盖度 + AI 判分一致性 + 跨页面同步 + 性能指标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159000"/>
            <a:ext cx="137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3C2C2"/>
                </a:solidFill>
                <a:latin typeface="微软雅黑"/>
              </a:rPr>
              <a:t>▶ 关键指标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667000"/>
            <a:ext cx="3302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16000" y="2667000"/>
            <a:ext cx="3302000" cy="762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19200" y="2921000"/>
            <a:ext cx="28956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1890FF"/>
                </a:solidFill>
                <a:latin typeface="微软雅黑"/>
              </a:rPr>
              <a:t>576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34290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题库总题数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37084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12 库 × 48 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667000"/>
            <a:ext cx="3302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2667000"/>
            <a:ext cx="3302000" cy="762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5200" y="2921000"/>
            <a:ext cx="28956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FA8C16"/>
                </a:solidFill>
                <a:latin typeface="微软雅黑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5200" y="34290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AI 简答判分一致性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5200" y="37084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与人工判分比对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8000" y="2667000"/>
            <a:ext cx="3302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8000" y="2667000"/>
            <a:ext cx="3302000" cy="762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1200" y="2921000"/>
            <a:ext cx="28956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52C41A"/>
                </a:solidFill>
                <a:latin typeface="微软雅黑"/>
              </a:rPr>
              <a:t>&lt;2s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200" y="34290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路径生成响应时间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1200" y="37084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流式首字延迟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684000" y="2667000"/>
            <a:ext cx="3302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684000" y="2667000"/>
            <a:ext cx="3302000" cy="762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0" y="2921000"/>
            <a:ext cx="28956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722ED1"/>
                </a:solidFill>
                <a:latin typeface="微软雅黑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0" y="34290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已知严重缺陷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0" y="37084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npm run build 通过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" y="4572000"/>
            <a:ext cx="137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3C2C2"/>
                </a:solidFill>
                <a:latin typeface="微软雅黑"/>
              </a:rPr>
              <a:t>▶ 4 项测试结论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6000" y="5080000"/>
            <a:ext cx="13716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16000" y="5080000"/>
            <a:ext cx="101600" cy="762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0000" y="5181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890FF"/>
                </a:solidFill>
                <a:latin typeface="微软雅黑"/>
              </a:rPr>
              <a:t>题库覆盖度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83000" y="5207000"/>
            <a:ext cx="10922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12 个题库覆盖 Python 基础、Web、数据结构、计算机网络、操作系统等；题型 6:3:1 (判断:选择:简答)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6000" y="5943600"/>
            <a:ext cx="13716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16000" y="5943600"/>
            <a:ext cx="101600" cy="762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0000" y="60452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A8C16"/>
                </a:solidFill>
                <a:latin typeface="微软雅黑"/>
              </a:rPr>
              <a:t>AI 简答判分一致性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3000" y="6070600"/>
            <a:ext cx="10922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随机抽 30 道简答，对比 AI 判分与人工判分；一致率 92%；不一致多为开放性题目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6000" y="6807200"/>
            <a:ext cx="13716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6000" y="6807200"/>
            <a:ext cx="101600" cy="7620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70000" y="69088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52C41A"/>
                </a:solidFill>
                <a:latin typeface="微软雅黑"/>
              </a:rPr>
              <a:t>跨页面同步验证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83000" y="6934200"/>
            <a:ext cx="10922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Practice → Assessment 实时同步；路径采用 → Practice 模块过滤；缓存命中 = 100%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6000" y="7670800"/>
            <a:ext cx="13716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6000" y="7670800"/>
            <a:ext cx="101600" cy="762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70000" y="77724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性能指标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83000" y="7797800"/>
            <a:ext cx="10922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首屏 &lt; 1.5s；流式首字 &lt; 2s；多智能体协作 6 worker 并发完成 &lt; 8s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05 章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17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0668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创新点小结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5 项创新点：多智能体框架 · 动态画像 · 结构化路径 · 流式思考 · 工程优化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2540000"/>
            <a:ext cx="27940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16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8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8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5 智能体协同框架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540000"/>
            <a:ext cx="2794000" cy="1016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64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6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890FF"/>
                </a:solidFill>
                <a:latin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6 维动态画像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12000" y="2540000"/>
            <a:ext cx="27940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12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4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52C41A"/>
                </a:solidFill>
                <a:latin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4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结构化路径节点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60000" y="2540000"/>
            <a:ext cx="27940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60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12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722ED1"/>
                </a:solidFill>
                <a:latin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2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流式思考可视化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08000" y="2540000"/>
            <a:ext cx="2794000" cy="1016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208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360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3C2C2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60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Tutor 5 项工程优化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6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8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统一 MultiAgentScheduler 调度 5 类智能体；通过事件总线解耦通信；
6 worker 并行生成资源；失败自动重试 3 次；新增智能体只需 registerAgent。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64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16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6 维画像（知识基础/认知风格/易错偏好/学习节奏/兴趣方向/学习习惯）；
对话式构建；localStorage 持久化；做题反馈回流；下游智能体系统 prompt 注入。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12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64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StructuredLearningNode 绑定 questionBankId + moduleId；
12 条预定义路径 + AI 自由生成双轨；80% 完成度自动标记。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60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12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SSE + ReadableStream 打字机效果；&lt;thinking&gt; 块可折叠；
AbortSignal 支持中途取消；UI 实时显示 5 worker 状态。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208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360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画像注入 + 缓存去重（问题+模式双键） + 追问链（parentId/followUpIds） +
点踩重新生成（含原因分析） + AbortSignal 取消。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6000" y="8128000"/>
            <a:ext cx="14351000" cy="508000"/>
          </a:xfrm>
          <a:prstGeom prst="roundRect">
            <a:avLst>
              <a:gd name="adj" fmla="val 5000"/>
            </a:avLst>
          </a:prstGeom>
          <a:solidFill>
            <a:srgbClr val="E6F4FF"/>
          </a:solidFill>
          <a:ln w="1270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70000" y="8229600"/>
            <a:ext cx="13843000" cy="3048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5 项创新点覆盖架构层 / 数据层 / 交互层 / 工程层 4 个维度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05 章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18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0668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总结与未来展望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已完成 + 待拓展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159000"/>
            <a:ext cx="685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52C41A"/>
                </a:solidFill>
                <a:latin typeface="微软雅黑"/>
              </a:rPr>
              <a:t>▶ 已完成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794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2895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2000" y="2921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智能体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2000" y="3200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画像 / 资源 / 路径 / 辅导 / 评估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6000" y="3683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3784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2000" y="3810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核心页面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2000" y="4089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Home / Profile / Resources / Path / Practice / Tutor / Assessment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6000" y="4572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9200" y="4673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2000" y="4699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题库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2000" y="4978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576 题，覆盖 Python / Web / 数据结构 / 计算机网络 / OS / 算法 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6000" y="5461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5562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2000" y="5588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PPT 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2000" y="5867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本汇报稿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6000" y="6350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9200" y="6451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2000" y="6477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工程优化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2000" y="6756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Tutor 缓存/追问链/点踩/取消/画像注入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0" y="2159000"/>
            <a:ext cx="685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A8C16"/>
                </a:solidFill>
                <a:latin typeface="微软雅黑"/>
              </a:rPr>
              <a:t>▶ 未来方向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82000" y="2794000"/>
            <a:ext cx="6858000" cy="12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82000" y="2794000"/>
            <a:ext cx="101600" cy="1270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36000" y="2946400"/>
            <a:ext cx="254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FA8C16"/>
                </a:solidFill>
                <a:latin typeface="微软雅黑"/>
              </a:rPr>
              <a:t>01  多模态扩展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6000" y="3403600"/>
            <a:ext cx="6350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接入图像 / 语音识别：拍照搜题、语音问答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82000" y="4191000"/>
            <a:ext cx="6858000" cy="12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82000" y="4191000"/>
            <a:ext cx="101600" cy="1270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36000" y="4343400"/>
            <a:ext cx="254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1890FF"/>
                </a:solidFill>
                <a:latin typeface="微软雅黑"/>
              </a:rPr>
              <a:t>02  知识图谱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36000" y="4800600"/>
            <a:ext cx="6350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构建学科知识图谱，路径推荐更智能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82000" y="5588000"/>
            <a:ext cx="6858000" cy="12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82000" y="5588000"/>
            <a:ext cx="101600" cy="1270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36000" y="5740400"/>
            <a:ext cx="254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722ED1"/>
                </a:solidFill>
                <a:latin typeface="微软雅黑"/>
              </a:rPr>
              <a:t>03  跨用户协作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6000" y="6197600"/>
            <a:ext cx="6350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学习小组 / 同伴互评 / 错题共享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6000" y="7874000"/>
            <a:ext cx="14351000" cy="635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6000" y="7874000"/>
            <a:ext cx="14351000" cy="635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</a:rPr>
              <a:t>我们相信：AI + 教育 = 每个学生都有专属的学习智能体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05 章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13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14000" y="6477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19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50800" cy="5588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2286000"/>
            <a:ext cx="12192000" cy="2032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0" b="1">
                <a:solidFill>
                  <a:srgbClr val="1890FF"/>
                </a:solidFill>
                <a:latin typeface="微软雅黑"/>
              </a:rPr>
              <a:t>Thanks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572000"/>
            <a:ext cx="1219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2400" b="0">
                <a:solidFill>
                  <a:srgbClr val="002766"/>
                </a:solidFill>
                <a:latin typeface="微软雅黑"/>
              </a:rPr>
              <a:t>感谢聆听 · 欢迎提问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74000" y="5334000"/>
            <a:ext cx="1016000" cy="508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5842000"/>
            <a:ext cx="12192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微软雅黑"/>
              </a:rPr>
              <a:t>队伍：[队伍名称]    ·    学校：[学校名称]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223000"/>
            <a:ext cx="12192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微软雅黑"/>
              </a:rPr>
              <a:t>汇报人：[汇报人姓名]    ·    指导老师：[指导老师姓名]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604000"/>
            <a:ext cx="12192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微软雅黑"/>
              </a:rPr>
              <a:t>联系方式：[邮箱 / GitHub]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7874000"/>
            <a:ext cx="1219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3600" b="1">
                <a:solidFill>
                  <a:srgbClr val="E6F4FF"/>
                </a:solidFill>
                <a:latin typeface="微软雅黑"/>
              </a:rPr>
              <a:t>Q &amp;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8636000"/>
            <a:ext cx="12192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900" b="0">
                <a:solidFill>
                  <a:srgbClr val="8C8C8C"/>
                </a:solidFill>
                <a:latin typeface="微软雅黑"/>
              </a:rPr>
              <a:t>本项目使用 React / TypeScript / Vite / Ant Design / Recharts / python-pptx / matplotlib 等开源组件，特此致谢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