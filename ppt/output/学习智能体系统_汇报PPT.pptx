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老师好，我是本项目的汇报人。今天我将为大家展示我们团队在第十五届中国软件杯A3赛题中的参赛作品——'学习智能体系统'。这是一个由多智能体协同驱动的个性化学习平台，旨在解决传统教育平台的痛点，让每个学生都能拥有专属的AI学习助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将分为四个核心部分：首先进行项目导入，分析行业痛点与赛题对标；其次拆解系统的四层总体架构与技术选型；接着深入剖析五大核心智能体的具体设计；最后挖掘多智能体协同等关键技术，并总结项目的创新点与未来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首先，我们进入第一部分：项目导入与需求对标。我们将探讨当前AI教育市场的趋势，分析传统学习平台面临的挑战，并展示我们的系统如何精准响应A3赛题的各项严苛要求。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请看这页的市场背景分析。当前AI教育市场正处于爆发期，超过60%的学生认为AI个性化辅导优于传统课堂，自适应学习平台用户近2年增长了3倍。然而，传统平台存在三大痛点：资源繁杂分散、全班统一进度难以个性化、以及错题反馈严重滞后。针对这些问题，我们的项目提出了四大差异化定位：通过5类智能体分工协作、构建6维动态画像、设计结构化路径，并实现思考过程的流式可视化，真正做到'随学随新、贴合个体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为软件杯的参赛作品，赛题对标是我们的核心考核点。A3赛题提出了5项功能需求和4项非功能需求。大家可以看到这张对标表，在功能层面，我们不仅实现了6维对话式画像、多智能体资源生成和个性化路径规划，还超额完成了作为加分项的智能辅导与学习效果评估。在非功能层面，流式输出、防幻觉机制、响应时间追踪等要求也均已通过工程化手段完美落地。可以说，我们100%覆盖了赛题要求，并在多个维度实现了超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接下来，我们进入第二部分：系统架构与技术选型。我将为大家拆解支撑这五大智能体高效运转的底层架构，以及我们在前端、AI交互和数据可视化方面的技术考量。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在系统架构设计上，我们采用了清晰的四层架构。最上层是基于React 19和Ant Design 6构建的表现层，提供企业级的UI交互；第二层是API网关，通过Vite代理无缝对接大模型接口；第三层是核心的多智能体框架，包含调度器和事件总线，负责5类智能体的协同工作；最底层是数据层，我们创新性地使用了localStorage结合本地JSON题库，实现了12个题库576道题的持久化。这种设计的最大优势是实现了零外部依赖，一行命令即可启动整个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在技术选型方面，我们坚持'主流成熟+前沿AI+轻量可视化'的原则。前端选用React 19配合TypeScript，确保类型安全与极速的HMR开发体验；AI层全面兼容Anthropic协议，深度应用SSE流式传输与AbortSignal，完美实现打字机效果与请求中断控制；数据可视化则采用Recharts和Ant Design内置组件，精准呈现6维能力雷达与学习进度时间线。所有技术栈均经过严格筛选，在前沿与稳健之间取得了最佳平衡。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现在，我们进入本次汇报的核心部分：五大核心智能体设计。我们将逐一拆解画像、资源、路径、辅导和评估这五个智能体，看看它们是如何分工协作，为学生提供全方位学习支持的。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是系统的'大脑'——画像构建智能体。它摒弃了传统的静态问卷，采用自然语言对话式交互，从知识基础、认知风格、易错偏好、学习节奏、兴趣方向和学习习惯6个维度动态构建学习者画像。最关键的特性是'随学随新'：学生在练习页的每一次做题反馈，都会通过事件总线实时回流到画像中进行更新。这个6维画像会作为系统prompt，自动注入到后续所有智能体的上下文中，确保每一次资源推荐和辅导都基于学生最新的认知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资源生成智能体。当学生确定学习目标后，它会启动一个多智能体协作流水线。首先由Planner智能体拆解任务，然后派发给5类Worker智能体并行工作，支持生成文档、思维导图、测验、阅读、视频脚本和代码案例共6种定制资源。在这个过程中，前端通过SSE流式回传每个Worker的实时状态（如pending、running、done），让用户清晰看到AI的工作进度。同时，系统支持失败自动重试和中途一键取消，确保长耗时场景下的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径规划智能体负责为学生规划学习路线。我们设计了'双轨模式'：既支持AI根据画像自由生成节点列表，也内置了12条如'Python全栈工程师'、'算法工程师'等预定义的结构化路径供一键采用。这里的核心技术亮点是'双向同步'：每个路径节点都深度绑定了具体的题库和模块ID。当学生在练习页做题时，系统会按当前激活的路径过滤模块；当模块完成度达到80%的阈值时，路径Banner会实时标记完成，并触发事件通知评估页更新雷达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辅导答疑智能体扮演着一对一AI导师的角色。它支持文字Markdown、Mermaid图解、视频脚本和可执行代码4种解答模式，满足不同学科的辅导需求。在工程优化上我们做了5项深度打磨：首先是画像注入，让AI用学生最容易理解的方式讲解；其次是缓存去重和追问链设计，支持深度探讨；最后是点踩重新生成与AbortSignal取消功能。这些细节优化让AI辅导不再是冷冰冰的问答，而是具备记忆和纠错能力的深度互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最后是效果评估智能体。我们坚持'真实进度同步、绝不造假'的原则，所有统计卡片和模块进度均直接读取练习页写入的真实数据。在此基础上，系统利用 Recharts 实时渲染 6 维能力雷达图，直观暴露学生的知识盲区。更重要的是，它会基于雷达图生成智能调整建议，比如针对易错的'装饰器'知识点推荐专项练习，或者根据学习节奏建议每日时长，甚至推荐相关的发展路径，真正实现'以评促学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在了解了五大智能体的功能后，第四部分我们将深入底层，深挖多智能体协同、流式输出等关键技术的实现细节，并对整个项目进行系统评估与未来展望。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多智能体协同是整个系统的技术基石。我们自研了 MultiAgentScheduler 核心类，通过 TypeScript 的 Map 管理角色与智能体的映射。最关键的设计是引入了 EventEmitter 事件总线，实现了5个智能体之间的完全解耦通信。比如，Profile Agent 更新画像后广播事件，Resource Agent 监听并生成资源，整个过程无需硬编码依赖。这种设计使得新增智能体只需调用 registerAgent()，让代码量大幅减少40%。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在AI交互体验上，我们深度优化了流式输出。通过封装 streamChatCompletion 函数，利用 Fetch API 和 ReadableStream 逐 chunk 解析 SSE 数据，实现了丝滑的打字机效果。更具特色的是'思考过程可视化'：我们将大模型输出的 &lt;thinking&gt; 块默认折叠在'思考过程'标签下，用户点击即可展开查看AI的推理逻辑，这在教学场景中极大地增强了可信度。同时，结合 axios 重试与超时控制，即使在弱网环境下也能稳定输出。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路径与练习的双向同步是保证学习闭环的关键。我们定义了 StructuredLearningNode 接口，强制每个节点绑定 questionBankId 和 moduleId。在数据流上，Path 页将激活路径写入 localStorage 作为单一数据源，Practice 页读取并过滤出对应模块的题目。我们内置了12个题库共576道全预写的题目，AI只负责判分不负责生成题目，这从根本上杜绝了AI幻觉问题。当模块完成度达80%时，通过 customEvent 广播进度，触发 Assessment 雷达图实时更新。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在系统交付前，我们进行了严格的测试评估。核心指标方面：系统内置576道题目覆盖主流计算机学科；AI简答判分与人工判分的一致率高达92%；流式首字延迟控制在2秒以内；且 npm run build 零严重缺陷通过。在测试结论上，12个题库的题型比例科学，跨页面同步缓存命中率达到100%，多智能体6个Worker并发完成时间小于8秒。这些数据充分证明了系统不仅功能完备，而且在工程性能和稳定性上达到了生产级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来看，本项目在架构、数据、交互和工程四个维度沉淀了5项核心创新：多智能体协同框架、6维动态画像、结构化路径节点、流式思考可视化以及Tutor的5项工程优化。展望未来，我们将继续拓展系统的边界：一是接入图像与语音识别，实现拍照搜题等多模态交互；二是构建底层学科知识图谱，让路径推荐具备真正的逻辑推理能力；三是引入跨用户协作，支持学习小组与同伴互评。我们相信，AI加教育的终局，是让每个学生都拥有最懂自己的学习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以上就是我们团队关于'学习智能体系统'的全部汇报内容。感谢各位评委老师的耐心聆听与批评指正。本项目使用了React、TypeScript、Vite、Ant Design、Recharts、python-pptx等众多优秀的开源组件，在此一并致谢。接下来是Q&amp;A环节，欢迎老师们批评指正、提问交流。谢谢大家！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01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项目导入与需求对标</a:t>
            </a:r>
          </a:p>
        </p:txBody>
      </p:sp>
      <p:pic>
        <p:nvPicPr>
          <p:cNvPr id="5" name="Picture 4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 / 21</a:t>
            </a:r>
          </a:p>
        </p:txBody>
      </p:sp>
      <p:sp>
        <p:nvSpPr>
          <p:cNvPr id="9" name="Oval 8"/>
          <p:cNvSpPr/>
          <p:nvPr/>
        </p:nvSpPr>
        <p:spPr>
          <a:xfrm>
            <a:off x="-762000" y="508000"/>
            <a:ext cx="3556000" cy="3556000"/>
          </a:xfrm>
          <a:prstGeom prst="ellipse">
            <a:avLst/>
          </a:prstGeom>
          <a:solidFill>
            <a:srgbClr val="D3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70000" y="6858000"/>
            <a:ext cx="4064000" cy="406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286000"/>
            <a:ext cx="762000" cy="254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1397000"/>
            <a:ext cx="10160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PO Sans"/>
                <a:ea typeface="OPPO Sans"/>
              </a:rPr>
              <a:t>第十五届中国软件杯 · A3 赛题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2667000"/>
            <a:ext cx="13970000" cy="1778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Weibei SC"/>
                <a:ea typeface="Weibei SC"/>
              </a:rPr>
              <a:t>学习智能体系统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572000"/>
            <a:ext cx="13970000" cy="508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OPPO Sans"/>
                <a:ea typeface="OPPO Sans"/>
              </a:rPr>
              <a:t>多智能体协同驱动的个性化学习平台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5207000"/>
            <a:ext cx="13970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OPPO Sans"/>
                <a:ea typeface="OPPO Sans"/>
              </a:rPr>
              <a:t>Multi-Agent Driven Personalized Learning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67310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D3A518"/>
                </a:solidFill>
                <a:latin typeface="OPPO Sans"/>
                <a:ea typeface="OPPO Sans"/>
              </a:rPr>
              <a:t>队伍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6731000"/>
            <a:ext cx="508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[队伍名称]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71120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D3A518"/>
                </a:solidFill>
                <a:latin typeface="OPPO Sans"/>
                <a:ea typeface="OPPO Sans"/>
              </a:rPr>
              <a:t>学校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7112000"/>
            <a:ext cx="508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[学校名称]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74930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D3A518"/>
                </a:solidFill>
                <a:latin typeface="OPPO Sans"/>
                <a:ea typeface="OPPO Sans"/>
              </a:rPr>
              <a:t>汇报人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7493000"/>
            <a:ext cx="508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[汇报人姓名]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78740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D3A518"/>
                </a:solidFill>
                <a:latin typeface="OPPO Sans"/>
                <a:ea typeface="OPPO Sans"/>
              </a:rPr>
              <a:t>指导老师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7874000"/>
            <a:ext cx="508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[指导老师姓名]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000" y="82550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D3A518"/>
                </a:solidFill>
                <a:latin typeface="OPPO Sans"/>
                <a:ea typeface="OPPO Sans"/>
              </a:rPr>
              <a:t>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8255000"/>
            <a:ext cx="508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2026.07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224000" y="7112000"/>
            <a:ext cx="762000" cy="254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24000" y="7239000"/>
            <a:ext cx="152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1">
                <a:solidFill>
                  <a:srgbClr val="D3A518"/>
                </a:solidFill>
                <a:latin typeface="OPPO Sans"/>
                <a:ea typeface="OPPO Sans"/>
              </a:rPr>
              <a:t>Learning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24000" y="7556500"/>
            <a:ext cx="152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OPPO Sans"/>
                <a:ea typeface="OPPO Sans"/>
              </a:rPr>
              <a:t>2026  ·  A3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01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项目导入与需求对标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635000"/>
            <a:ext cx="762000" cy="1905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762000"/>
            <a:ext cx="139700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目  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397000"/>
            <a:ext cx="1397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Table of Contents · 21 页 / 5 章节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2209800"/>
            <a:ext cx="1397000" cy="1206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4400" b="1">
                <a:solidFill>
                  <a:srgbClr val="2D4470"/>
                </a:solidFill>
                <a:latin typeface="Weibei SC"/>
                <a:ea typeface="Weibei SC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5000" y="2413000"/>
            <a:ext cx="25400" cy="698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59000" y="2336800"/>
            <a:ext cx="71120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OPPO Sans"/>
                <a:ea typeface="OPPO Sans"/>
              </a:rPr>
              <a:t>项目导入与需求对标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9000" y="2794000"/>
            <a:ext cx="889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OPPO Sans"/>
                <a:ea typeface="OPPO Sans"/>
              </a:rPr>
              <a:t>背景 · 赛题对标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2590800"/>
            <a:ext cx="431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400" b="1">
                <a:solidFill>
                  <a:srgbClr val="2D4470"/>
                </a:solidFill>
                <a:latin typeface="OPPO Sans"/>
                <a:ea typeface="OPPO Sans"/>
              </a:rPr>
              <a:t>P. 3 - 5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00" y="3517900"/>
            <a:ext cx="1397000" cy="1206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4400" b="1">
                <a:solidFill>
                  <a:srgbClr val="2D4470"/>
                </a:solidFill>
                <a:latin typeface="Weibei SC"/>
                <a:ea typeface="Weibei SC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3721100"/>
            <a:ext cx="25400" cy="698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59000" y="3644900"/>
            <a:ext cx="71120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OPPO Sans"/>
                <a:ea typeface="OPPO Sans"/>
              </a:rPr>
              <a:t>系统架构与技术选型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9000" y="4102100"/>
            <a:ext cx="889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OPPO Sans"/>
                <a:ea typeface="OPPO Sans"/>
              </a:rPr>
              <a:t>四层架构 · 技术栈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3898900"/>
            <a:ext cx="431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400" b="1">
                <a:solidFill>
                  <a:srgbClr val="2D4470"/>
                </a:solidFill>
                <a:latin typeface="OPPO Sans"/>
                <a:ea typeface="OPPO Sans"/>
              </a:rPr>
              <a:t>P. 6 - 8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" y="4826000"/>
            <a:ext cx="1397000" cy="1206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4400" b="1">
                <a:solidFill>
                  <a:srgbClr val="2D4470"/>
                </a:solidFill>
                <a:latin typeface="Weibei SC"/>
                <a:ea typeface="Weibei SC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5000" y="5029200"/>
            <a:ext cx="25400" cy="698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9000" y="4953000"/>
            <a:ext cx="71120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OPPO Sans"/>
                <a:ea typeface="OPPO Sans"/>
              </a:rPr>
              <a:t>五大核心智能体设计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9000" y="5410200"/>
            <a:ext cx="889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OPPO Sans"/>
                <a:ea typeface="OPPO Sans"/>
              </a:rPr>
              <a:t>画像 · 资源 · 路径 · 辅导 · 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5207000"/>
            <a:ext cx="431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400" b="1">
                <a:solidFill>
                  <a:srgbClr val="2D4470"/>
                </a:solidFill>
                <a:latin typeface="OPPO Sans"/>
                <a:ea typeface="OPPO Sans"/>
              </a:rPr>
              <a:t>P. 9 - 14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" y="6134100"/>
            <a:ext cx="1397000" cy="1206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4400" b="1">
                <a:solidFill>
                  <a:srgbClr val="2D4470"/>
                </a:solidFill>
                <a:latin typeface="Weibei SC"/>
                <a:ea typeface="Weibei SC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5000" y="6337300"/>
            <a:ext cx="25400" cy="698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59000" y="6261100"/>
            <a:ext cx="71120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OPPO Sans"/>
                <a:ea typeface="OPPO Sans"/>
              </a:rPr>
              <a:t>关键技术深挖与总结展望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0" y="6718300"/>
            <a:ext cx="889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OPPO Sans"/>
                <a:ea typeface="OPPO Sans"/>
              </a:rPr>
              <a:t>多智能体 · 流式 · 同步 · 评估 · 创新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15100"/>
            <a:ext cx="431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400" b="1">
                <a:solidFill>
                  <a:srgbClr val="2D4470"/>
                </a:solidFill>
                <a:latin typeface="OPPO Sans"/>
                <a:ea typeface="OPPO Sans"/>
              </a:rPr>
              <a:t>P. 15 - 20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800" y="7442200"/>
            <a:ext cx="1397000" cy="1206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4400" b="1">
                <a:solidFill>
                  <a:srgbClr val="2D4470"/>
                </a:solidFill>
                <a:latin typeface="Weibei SC"/>
                <a:ea typeface="Weibei SC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05000" y="7645400"/>
            <a:ext cx="25400" cy="698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59000" y="7569200"/>
            <a:ext cx="71120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OPPO Sans"/>
                <a:ea typeface="OPPO Sans"/>
              </a:rPr>
              <a:t>致谢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59000" y="8026400"/>
            <a:ext cx="889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OPPO Sans"/>
                <a:ea typeface="OPPO Sans"/>
              </a:rPr>
              <a:t>Q &amp;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7823200"/>
            <a:ext cx="431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1400" b="1">
                <a:solidFill>
                  <a:srgbClr val="2D4470"/>
                </a:solidFill>
                <a:latin typeface="OPPO Sans"/>
                <a:ea typeface="OPPO Sans"/>
              </a:rPr>
              <a:t>P.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01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项目导入与需求对标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3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016000"/>
            <a:ext cx="6858000" cy="660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0" b="1">
                <a:solidFill>
                  <a:srgbClr val="E8E4DA"/>
                </a:solidFill>
                <a:latin typeface="Weibei SC"/>
                <a:ea typeface="Weibei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2794000"/>
            <a:ext cx="8890000" cy="1016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" b="1">
                <a:solidFill>
                  <a:srgbClr val="2D4470"/>
                </a:solidFill>
                <a:latin typeface="Weibei SC"/>
                <a:ea typeface="Weibei SC"/>
              </a:rPr>
              <a:t>项目导入与需求对标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0" y="3937000"/>
            <a:ext cx="762000" cy="254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0" y="4254500"/>
            <a:ext cx="88900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Introduction &amp;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4889500"/>
            <a:ext cx="8890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OPPO Sans"/>
                <a:ea typeface="OPPO Sans"/>
              </a:rPr>
              <a:t>本章范围 · P. 3 - 5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01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项目导入与需求对标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项目背景与差异化定位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AI 教育市场趋势 · 传统平台痛点 · 本项目差异化定位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540000"/>
            <a:ext cx="4318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AI 教育市场趋势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3175000"/>
            <a:ext cx="4318000" cy="10414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3302000"/>
            <a:ext cx="39116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600" b="1">
                <a:solidFill>
                  <a:srgbClr val="2D4470"/>
                </a:solidFill>
                <a:latin typeface="Weibei SC"/>
                <a:ea typeface="Weibei SC"/>
              </a:rPr>
              <a:t>60%+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784600"/>
            <a:ext cx="3911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学生认为 AI 个性化辅导效果优于传统课堂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000" y="4381500"/>
            <a:ext cx="4318000" cy="10414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9200" y="4508500"/>
            <a:ext cx="39116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600" b="1">
                <a:solidFill>
                  <a:srgbClr val="2D4470"/>
                </a:solidFill>
                <a:latin typeface="Weibei SC"/>
                <a:ea typeface="Weibei SC"/>
              </a:rPr>
              <a:t>3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4991100"/>
            <a:ext cx="3911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近 2 年自适应学习平台用户增长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6000" y="5588000"/>
            <a:ext cx="4318000" cy="10414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9200" y="5715000"/>
            <a:ext cx="39116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600" b="1">
                <a:solidFill>
                  <a:srgbClr val="2D4470"/>
                </a:solidFill>
                <a:latin typeface="Weibei SC"/>
                <a:ea typeface="Weibei SC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6197600"/>
            <a:ext cx="3911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高校将引入 AI 教学辅助系统（2026 预测）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0" y="2540000"/>
            <a:ext cx="4572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传统学习平台 3 大痛点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42000" y="3175000"/>
            <a:ext cx="4572000" cy="914400"/>
          </a:xfrm>
          <a:prstGeom prst="roundRect">
            <a:avLst>
              <a:gd name="adj" fmla="val 4000"/>
            </a:avLst>
          </a:prstGeom>
          <a:solidFill>
            <a:srgbClr val="A6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0" y="3302000"/>
            <a:ext cx="4064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OPPO Sans"/>
                <a:ea typeface="OPPO Sans"/>
              </a:rPr>
              <a:t>1. 资源繁杂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3657600"/>
            <a:ext cx="4064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题库、视频、文档分散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2500" y="4381500"/>
            <a:ext cx="4191000" cy="914400"/>
          </a:xfrm>
          <a:prstGeom prst="roundRect">
            <a:avLst>
              <a:gd name="adj" fmla="val 4000"/>
            </a:avLst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6500" y="4508500"/>
            <a:ext cx="3683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OPPO Sans"/>
                <a:ea typeface="OPPO Sans"/>
              </a:rPr>
              <a:t>2. 节奏统一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0" y="4864100"/>
            <a:ext cx="3683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全班同一进度，难个性化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3000" y="5588000"/>
            <a:ext cx="3810000" cy="914400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0" y="5715000"/>
            <a:ext cx="3302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OPPO Sans"/>
                <a:ea typeface="OPPO Sans"/>
              </a:rPr>
              <a:t>3. 反馈滞后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6070600"/>
            <a:ext cx="3302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OPPO Sans"/>
                <a:ea typeface="OPPO Sans"/>
              </a:rPr>
              <a:t>错题几天后才讲评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6000" y="2540000"/>
            <a:ext cx="4318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D3A518"/>
                </a:solidFill>
                <a:latin typeface="OPPO Sans"/>
                <a:ea typeface="OPPO Sans"/>
              </a:rPr>
              <a:t>本项目定位：4 大差异化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76000" y="3225800"/>
            <a:ext cx="101600" cy="609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0" y="3175000"/>
            <a:ext cx="4064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多智能体协同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3530600"/>
            <a:ext cx="4064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5 类智能体分工协作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76000" y="4114800"/>
            <a:ext cx="101600" cy="609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0" y="4064000"/>
            <a:ext cx="4064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6 维动态画像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4419600"/>
            <a:ext cx="4064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随学随新、贴合个体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176000" y="5003800"/>
            <a:ext cx="101600" cy="609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0" y="4953000"/>
            <a:ext cx="4064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结构化路径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5308600"/>
            <a:ext cx="4064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题库/模块双向同步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76000" y="5892800"/>
            <a:ext cx="101600" cy="609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0" y="5842000"/>
            <a:ext cx="40640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流式可视化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197600"/>
            <a:ext cx="4064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思考过程可折叠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01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项目导入与需求对标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5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需求与设计目标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5 个核心需求 + 4 条设计原则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286000"/>
            <a:ext cx="5080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5 个核心需求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2794000"/>
            <a:ext cx="6350000" cy="76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794000"/>
            <a:ext cx="101600" cy="7620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0000" y="28956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D3A518"/>
                </a:solidFill>
                <a:latin typeface="OPPO Sans"/>
                <a:ea typeface="OPPO Sa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956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258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6 维度对话式构建，随学随新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000" y="3708400"/>
            <a:ext cx="6350000" cy="76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6000" y="3708400"/>
            <a:ext cx="101600" cy="7620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0000" y="38100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D3A518"/>
                </a:solidFill>
                <a:latin typeface="OPPO Sans"/>
                <a:ea typeface="OPPO San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8100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资源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1402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6 类资源多智能体协作生成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000" y="4622800"/>
            <a:ext cx="6350000" cy="76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6000" y="4622800"/>
            <a:ext cx="101600" cy="762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70000" y="47244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7244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路径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546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AI 生成 + 12 预定义结构化路径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6000" y="5537200"/>
            <a:ext cx="6350000" cy="76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6000" y="5537200"/>
            <a:ext cx="101600" cy="762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70000" y="56388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OPPO Sans"/>
                <a:ea typeface="OPPO San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6388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辅导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9690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4 模式 + 追问链 + 画像注入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000" y="6451600"/>
            <a:ext cx="6350000" cy="76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6000" y="6451600"/>
            <a:ext cx="101600" cy="76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0000" y="6553200"/>
            <a:ext cx="10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OPPO Sans"/>
                <a:ea typeface="OPPO San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65532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2D4470"/>
                </a:solidFill>
                <a:latin typeface="OPPO Sans"/>
                <a:ea typeface="OPPO Sans"/>
              </a:rPr>
              <a:t>评估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6883400"/>
            <a:ext cx="482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真实进度同步 + 能力雷达 + 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8000" y="2286000"/>
            <a:ext cx="6731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D3A518"/>
                </a:solidFill>
                <a:latin typeface="OPPO Sans"/>
                <a:ea typeface="OPPO Sans"/>
              </a:rPr>
              <a:t>4 条设计原则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8000" y="2794000"/>
            <a:ext cx="33020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28000" y="2794000"/>
            <a:ext cx="3302000" cy="762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1200" y="3048000"/>
            <a:ext cx="28956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个性化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1200" y="3530600"/>
            <a:ext cx="2895600" cy="571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画像驱动所有下游智能体决策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684000" y="2794000"/>
            <a:ext cx="33020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684000" y="2794000"/>
            <a:ext cx="3302000" cy="762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0" y="3048000"/>
            <a:ext cx="28956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D3A518"/>
                </a:solidFill>
                <a:latin typeface="OPPO Sans"/>
                <a:ea typeface="OPPO Sans"/>
              </a:rPr>
              <a:t>多智能体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0" y="3530600"/>
            <a:ext cx="2895600" cy="571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5 类智能体职责清晰、可组合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28000" y="4508500"/>
            <a:ext cx="33020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28000" y="4508500"/>
            <a:ext cx="33020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1200" y="4762500"/>
            <a:ext cx="28956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OPPO Sans"/>
                <a:ea typeface="OPPO Sans"/>
              </a:rPr>
              <a:t>流式交互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1200" y="5245100"/>
            <a:ext cx="2895600" cy="571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打字机效果 + 思考过程可视化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684000" y="4508500"/>
            <a:ext cx="33020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684000" y="4508500"/>
            <a:ext cx="3302000" cy="76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87200" y="4762500"/>
            <a:ext cx="28956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OPPO Sans"/>
                <a:ea typeface="OPPO Sans"/>
              </a:rPr>
              <a:t>数据闭环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0" y="5245100"/>
            <a:ext cx="2895600" cy="571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做题反馈回流画像、画像驱动推荐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6000" y="8001000"/>
            <a:ext cx="14224000" cy="508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6000" y="8001000"/>
            <a:ext cx="14224000" cy="508000"/>
          </a:xfrm>
          <a:prstGeom prst="rect">
            <a:avLst/>
          </a:prstGeom>
          <a:noFill/>
        </p:spPr>
        <p:txBody>
          <a:bodyPr wrap="square" lIns="101600" rIns="101600" tIns="50800" bIns="508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PO Sans"/>
                <a:ea typeface="OPPO Sans"/>
              </a:rPr>
              <a:t>让每个学生都拥有自己的 AI 学习智能体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02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系统架构与技术选型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6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016000"/>
            <a:ext cx="6858000" cy="660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0" b="1">
                <a:solidFill>
                  <a:srgbClr val="E8E4DA"/>
                </a:solidFill>
                <a:latin typeface="Weibei SC"/>
                <a:ea typeface="Weibei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2794000"/>
            <a:ext cx="8890000" cy="1016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" b="1">
                <a:solidFill>
                  <a:srgbClr val="2D4470"/>
                </a:solidFill>
                <a:latin typeface="Weibei SC"/>
                <a:ea typeface="Weibei SC"/>
              </a:rPr>
              <a:t>系统架构与技术选型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0" y="3937000"/>
            <a:ext cx="762000" cy="254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0" y="4254500"/>
            <a:ext cx="88900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System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4889500"/>
            <a:ext cx="8890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OPPO Sans"/>
                <a:ea typeface="OPPO Sans"/>
              </a:rPr>
              <a:t>本章范围 · P. 6 - 8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02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系统架构与技术选型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四层轻量化总体架构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表现层 / API 网关 / 多智能体框架 / 数据层，零外部依赖一行启动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413000"/>
            <a:ext cx="152400" cy="12065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32000" y="2413000"/>
            <a:ext cx="11430000" cy="12065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590800"/>
            <a:ext cx="4826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表现层 (Presentation)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022600"/>
            <a:ext cx="10922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React 19 + TypeScript + Vite + Ant Design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27000" y="2603500"/>
            <a:ext cx="1524000" cy="825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3400" b="1">
                <a:solidFill>
                  <a:srgbClr val="2D4470"/>
                </a:solidFill>
                <a:latin typeface="Weibei SC"/>
                <a:ea typeface="Weibei SC"/>
              </a:rPr>
              <a:t>L1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47000" y="3695700"/>
            <a:ext cx="0" cy="228600"/>
          </a:xfrm>
          <a:prstGeom prst="line">
            <a:avLst/>
          </a:prstGeom>
          <a:ln w="19050">
            <a:solidFill>
              <a:srgbClr val="2D44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778000" y="4000500"/>
            <a:ext cx="152400" cy="12065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32000" y="4000500"/>
            <a:ext cx="11430000" cy="12065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78300"/>
            <a:ext cx="4826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OPPO Sans"/>
                <a:ea typeface="OPPO Sans"/>
              </a:rPr>
              <a:t>API 网关 (Gateway)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610100"/>
            <a:ext cx="10922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Vite dev proxy: /anthropic  api.minimaxi.com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27000" y="4191000"/>
            <a:ext cx="1524000" cy="825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3400" b="1">
                <a:solidFill>
                  <a:srgbClr val="C00000"/>
                </a:solidFill>
                <a:latin typeface="Weibei SC"/>
                <a:ea typeface="Weibei SC"/>
              </a:rPr>
              <a:t>L2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7000" y="5283200"/>
            <a:ext cx="0" cy="2286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778000" y="5588000"/>
            <a:ext cx="152400" cy="1206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32000" y="5588000"/>
            <a:ext cx="11430000" cy="12065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765800"/>
            <a:ext cx="4826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D3A518"/>
                </a:solidFill>
                <a:latin typeface="OPPO Sans"/>
                <a:ea typeface="OPPO Sans"/>
              </a:rPr>
              <a:t>多智能体框架 (Multi-Agent)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6197600"/>
            <a:ext cx="10922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MultiAgentScheduler · 5 类智能体 · 事件总线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27000" y="5778500"/>
            <a:ext cx="1524000" cy="825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3400" b="1">
                <a:solidFill>
                  <a:srgbClr val="D3A518"/>
                </a:solidFill>
                <a:latin typeface="Weibei SC"/>
                <a:ea typeface="Weibei SC"/>
              </a:rPr>
              <a:t>L3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47000" y="6870700"/>
            <a:ext cx="0" cy="228600"/>
          </a:xfrm>
          <a:prstGeom prst="line">
            <a:avLst/>
          </a:prstGeom>
          <a:ln w="19050">
            <a:solidFill>
              <a:srgbClr val="D3A5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778000" y="7175500"/>
            <a:ext cx="152400" cy="12065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32000" y="7175500"/>
            <a:ext cx="11430000" cy="12065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7353300"/>
            <a:ext cx="4826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数据层 (Data)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7785100"/>
            <a:ext cx="10922000" cy="381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localStorage · 题库 JSON（12 库 576 题）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27000" y="7366000"/>
            <a:ext cx="1524000" cy="825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3400" b="1">
                <a:solidFill>
                  <a:srgbClr val="2D4470"/>
                </a:solidFill>
                <a:latin typeface="Weibei SC"/>
                <a:ea typeface="Weibei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90000" y="8128000"/>
            <a:ext cx="6350000" cy="635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8229600"/>
            <a:ext cx="5842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全栈可本地运行：npm run dev 一行启动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8483600"/>
            <a:ext cx="5842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2D4470"/>
                </a:solidFill>
                <a:latin typeface="OPPO Sans"/>
                <a:ea typeface="OPPO Sans"/>
              </a:rPr>
              <a:t>无外部数据库依赖（localStorage 持久化）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02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系统架构与技术选型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前沿与稳健并重的技术选型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React 19 + SSE 流式 + Recharts 三大技术支撑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6000" y="25400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2540000"/>
            <a:ext cx="4572000" cy="508000"/>
          </a:xfrm>
          <a:prstGeom prst="rect">
            <a:avLst/>
          </a:prstGeom>
          <a:noFill/>
        </p:spPr>
        <p:txBody>
          <a:bodyPr wrap="square" lIns="101600" rIns="101600" tIns="50800" bIns="508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PPO Sans"/>
                <a:ea typeface="OPPO Sans"/>
              </a:rPr>
              <a:t>前端框架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6000" y="32385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3800" y="33401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React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3800" y="36957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最新稳定版，Concurrent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6000" y="42291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3800" y="43307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3800" y="46863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类型安全，IDE 智能提示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6000" y="52197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3800" y="53213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Vite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3800" y="56769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极速冷启动 + HMR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000" y="62103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3800" y="63119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Ant Design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3800" y="66675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企业级 UI 组件库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6000" y="72009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3800" y="73025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PageCache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3800" y="76581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手动 useState 路由 + useRef 缓存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42000" y="25400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2000" y="2540000"/>
            <a:ext cx="4572000" cy="508000"/>
          </a:xfrm>
          <a:prstGeom prst="rect">
            <a:avLst/>
          </a:prstGeom>
          <a:noFill/>
        </p:spPr>
        <p:txBody>
          <a:bodyPr wrap="square" lIns="101600" rIns="101600" tIns="50800" bIns="508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PPO Sans"/>
                <a:ea typeface="OPPO Sans"/>
              </a:rPr>
              <a:t>AI 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42000" y="32385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9800" y="33401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大模型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9800" y="36957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兼容 Anthropic 协议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42000" y="42291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9800" y="43307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SSE 流式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9800" y="46863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ReadableStream 打字机效果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42000" y="52197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9800" y="53213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AbortSignal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9800" y="56769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支持中途取消请求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42000" y="62103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19800" y="63119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Prompt 工程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9800" y="66675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5 类系统 prompt 注入画像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42000" y="72009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9800" y="73025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重试 + 超时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9800" y="76581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axios 3 次重试 / 3 分钟超时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68000" y="2540000"/>
            <a:ext cx="4572000" cy="508000"/>
          </a:xfrm>
          <a:prstGeom prst="roundRect">
            <a:avLst>
              <a:gd name="adj" fmla="val 4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68000" y="2540000"/>
            <a:ext cx="4572000" cy="508000"/>
          </a:xfrm>
          <a:prstGeom prst="rect">
            <a:avLst/>
          </a:prstGeom>
          <a:noFill/>
        </p:spPr>
        <p:txBody>
          <a:bodyPr wrap="square" lIns="101600" rIns="101600" tIns="50800" bIns="508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PPO Sans"/>
                <a:ea typeface="OPPO Sans"/>
              </a:rPr>
              <a:t>数据可视化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68000" y="32385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45800" y="33401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Recharts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45800" y="36957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React 原生 + 声明式 API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68000" y="42291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45800" y="43307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雷达图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45800" y="46863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6 维度能力评估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668000" y="52197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45800" y="53213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统计卡片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45800" y="56769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Antd Statistic 组件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68000" y="62103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45800" y="63119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时间线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45800" y="66675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Antd Timeline 智能建议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68000" y="7200900"/>
            <a:ext cx="4572000" cy="8636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45800" y="7302500"/>
            <a:ext cx="4216400" cy="330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进度条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45800" y="7658100"/>
            <a:ext cx="421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Antd Progress 模块进度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03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五大核心智能体设计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9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016000"/>
            <a:ext cx="6858000" cy="660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0" b="1">
                <a:solidFill>
                  <a:srgbClr val="E8E4DA"/>
                </a:solidFill>
                <a:latin typeface="Weibei SC"/>
                <a:ea typeface="Weibei S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2794000"/>
            <a:ext cx="8890000" cy="1016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" b="1">
                <a:solidFill>
                  <a:srgbClr val="2D4470"/>
                </a:solidFill>
                <a:latin typeface="Weibei SC"/>
                <a:ea typeface="Weibei SC"/>
              </a:rPr>
              <a:t>五大核心智能体设计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0" y="3937000"/>
            <a:ext cx="762000" cy="254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0" y="4254500"/>
            <a:ext cx="88900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Five Intelligent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4889500"/>
            <a:ext cx="8890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OPPO Sans"/>
                <a:ea typeface="OPPO Sans"/>
              </a:rPr>
              <a:t>本章范围 · P. 9 - 14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03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五大核心智能体设计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889000"/>
            <a:ext cx="508000" cy="25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1016000"/>
            <a:ext cx="11430000" cy="508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Weibei SC"/>
                <a:ea typeface="Weibei SC"/>
              </a:rPr>
              <a:t>画像构建智能体 (Profile 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1498600"/>
            <a:ext cx="8890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对话式 6 维画像构建 · 持久化跨页共享</a:t>
            </a:r>
          </a:p>
        </p:txBody>
      </p:sp>
      <p:pic>
        <p:nvPicPr>
          <p:cNvPr id="11" name="Picture 10" descr="PixPin_2026-06-15_10-34-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929772"/>
            <a:ext cx="6858000" cy="40464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36000" y="2159000"/>
            <a:ext cx="6604000" cy="1397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9200" y="2286000"/>
            <a:ext cx="6197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OPPO Sans"/>
                <a:ea typeface="OPPO Sans"/>
              </a:rPr>
              <a:t>角色定位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2616200"/>
            <a:ext cx="6197600" cy="889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通过对话式交互理解学习者，构建 6 维动态画像；随学习过程持续更新。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6000" y="3746500"/>
            <a:ext cx="6604000" cy="203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0" y="3873500"/>
            <a:ext cx="6197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OPPO Sans"/>
                <a:ea typeface="OPPO Sans"/>
              </a:rPr>
              <a:t>核心能力（6 维画像）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9200" y="4356100"/>
            <a:ext cx="254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6200" y="4254500"/>
            <a:ext cx="2921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知识基础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14200" y="4356100"/>
            <a:ext cx="254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41200" y="4254500"/>
            <a:ext cx="2921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认知风格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9200" y="4813300"/>
            <a:ext cx="254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6200" y="4711700"/>
            <a:ext cx="2921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易错偏好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14200" y="4813300"/>
            <a:ext cx="254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41200" y="4711700"/>
            <a:ext cx="2921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学习节奏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39200" y="5270500"/>
            <a:ext cx="254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6200" y="5168900"/>
            <a:ext cx="2921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兴趣方向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014200" y="5270500"/>
            <a:ext cx="254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41200" y="5168900"/>
            <a:ext cx="2921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学习习惯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36000" y="5969000"/>
            <a:ext cx="6604000" cy="1778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9200" y="6096000"/>
            <a:ext cx="6197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OPPO Sans"/>
                <a:ea typeface="OPPO Sans"/>
              </a:rPr>
              <a:t>关键特性：随学随新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6426200"/>
            <a:ext cx="6197600" cy="1270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· 对话式构建：自然语言输入
· 持久化到 localStorage，跨页面共享
· 做题反馈回流画像（practiceGrader 派发事件）
· 系统 prompt 注入到所有下游智能体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03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五大核心智能体设计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11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889000"/>
            <a:ext cx="127000" cy="355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889000"/>
            <a:ext cx="11430000" cy="482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D4470"/>
                </a:solidFill>
                <a:latin typeface="Weibei SC"/>
                <a:ea typeface="Weibei SC"/>
              </a:rPr>
              <a:t>资源生成智能体 (Resource 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1397000"/>
            <a:ext cx="7620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OPPO Sans"/>
                <a:ea typeface="OPPO Sans"/>
              </a:rPr>
              <a:t> 基于画像的 6 类定制资源 · 多智能体流水线</a:t>
            </a:r>
          </a:p>
        </p:txBody>
      </p:sp>
      <p:pic>
        <p:nvPicPr>
          <p:cNvPr id="11" name="Picture 10" descr="PixPin_2026-06-15_10-3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910324"/>
            <a:ext cx="6858000" cy="38313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36000" y="2032000"/>
            <a:ext cx="6858000" cy="1270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9200" y="21590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D3A518"/>
                </a:solidFill>
                <a:latin typeface="OPPO Sans"/>
                <a:ea typeface="OPPO Sans"/>
              </a:rPr>
              <a:t>角色定位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2489200"/>
            <a:ext cx="6451600" cy="711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基于画像为每个学习主题生成 6 类定制资源，多智能体协作流水线。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6000" y="3492500"/>
            <a:ext cx="6858000" cy="2540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0" y="36195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D3A518"/>
                </a:solidFill>
                <a:latin typeface="OPPO Sans"/>
                <a:ea typeface="OPPO Sans"/>
              </a:rPr>
              <a:t>6 种资源类型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9200" y="4165600"/>
            <a:ext cx="76200" cy="228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7000" y="40640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7000" y="4318000"/>
            <a:ext cx="27940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OPPO Sans"/>
                <a:ea typeface="OPPO Sans"/>
              </a:rPr>
              <a:t>document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988800" y="4165600"/>
            <a:ext cx="76200" cy="228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6600" y="40640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思维导图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6600" y="4318000"/>
            <a:ext cx="27940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OPPO Sans"/>
                <a:ea typeface="OPPO Sans"/>
              </a:rPr>
              <a:t>mindmap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9200" y="4673600"/>
            <a:ext cx="76200" cy="228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7000" y="45720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测验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0" y="4826000"/>
            <a:ext cx="27940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OPPO Sans"/>
                <a:ea typeface="OPPO Sans"/>
              </a:rPr>
              <a:t>quiz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988800" y="4673600"/>
            <a:ext cx="76200" cy="228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66600" y="45720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阅读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6600" y="4826000"/>
            <a:ext cx="27940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OPPO Sans"/>
                <a:ea typeface="OPPO Sans"/>
              </a:rPr>
              <a:t>reading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39200" y="5181600"/>
            <a:ext cx="76200" cy="228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7000" y="50800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视频脚本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7000" y="5334000"/>
            <a:ext cx="27940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OPPO Sans"/>
                <a:ea typeface="OPPO Sans"/>
              </a:rPr>
              <a:t>video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988800" y="5181600"/>
            <a:ext cx="76200" cy="228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6600" y="50800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代码案例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6600" y="5334000"/>
            <a:ext cx="27940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  <a:latin typeface="OPPO Sans"/>
                <a:ea typeface="OPPO Sans"/>
              </a:rPr>
              <a:t>codeCase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36000" y="6223000"/>
            <a:ext cx="6858000" cy="203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39200" y="63500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D3A518"/>
                </a:solidFill>
                <a:latin typeface="OPPO Sans"/>
                <a:ea typeface="OPPO Sans"/>
              </a:rPr>
              <a:t>多智能体协作（实时状态）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9200" y="6705600"/>
            <a:ext cx="6451600" cy="152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· planner 拆任务，5 类 worker 并行
· SSE 流式回传各 worker 状态（pending/running/done）
· 失败自动重试，最多 3 次
· 全部完成前允许用户中断（AbortSignal）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03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五大核心智能体设计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12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889000"/>
            <a:ext cx="127000" cy="3556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889000"/>
            <a:ext cx="11430000" cy="482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600" b="1">
                <a:solidFill>
                  <a:srgbClr val="2D4470"/>
                </a:solidFill>
                <a:latin typeface="Weibei SC"/>
                <a:ea typeface="Weibei SC"/>
              </a:rPr>
              <a:t>路径规划智能体 (Path 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1397000"/>
            <a:ext cx="7620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OPPO Sans"/>
                <a:ea typeface="OPPO Sans"/>
              </a:rPr>
              <a:t> AI 自由生成 + 12 条预定义结构化路径 · 80% 完成度阈值</a:t>
            </a:r>
          </a:p>
        </p:txBody>
      </p:sp>
      <p:pic>
        <p:nvPicPr>
          <p:cNvPr id="11" name="Picture 10" descr="PixPin_2026-06-15_10-36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727837"/>
            <a:ext cx="7112000" cy="41963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36000" y="2032000"/>
            <a:ext cx="6858000" cy="1397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9200" y="21590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▶ 角色定位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2489200"/>
            <a:ext cx="6451600" cy="889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根据画像生成结构化学习路径，将知识点对应到题库的具体模块。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6000" y="3556000"/>
            <a:ext cx="6858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0" y="36830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▶ 双轨模式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9200" y="4064000"/>
            <a:ext cx="6451600" cy="152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• AI 自由生成：流式输出节点列表
• 12 条预定义结构化路径：一键采用
• StructuredLearningNode：每节点绑定 questionBankId + moduleId
• 80% 阈值：模块完成度达 80% 自动标记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36000" y="5715000"/>
            <a:ext cx="6858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9200" y="58420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▶ 双向同步（路径 练习）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9200" y="6197600"/>
            <a:ext cx="6451600" cy="1397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• Practice 页按 activeStructuredPath 过滤模块
• 路径 banner 提示当前激活路径
• 自定义事件 moduleProgressUpdated 实时同步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03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五大核心智能体设计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13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889000"/>
            <a:ext cx="127000" cy="355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889000"/>
            <a:ext cx="11430000" cy="482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2D4470"/>
                </a:solidFill>
                <a:latin typeface="Weibei SC"/>
                <a:ea typeface="Weibei SC"/>
              </a:rPr>
              <a:t>辅导答疑智能体 (Tutor 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1397000"/>
            <a:ext cx="7620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OPPO Sans"/>
                <a:ea typeface="OPPO Sans"/>
              </a:rPr>
              <a:t> 4 种解答模式 · 追问链 · 画像驱动 · 流式中断</a:t>
            </a:r>
          </a:p>
        </p:txBody>
      </p:sp>
      <p:pic>
        <p:nvPicPr>
          <p:cNvPr id="11" name="Picture 10" descr="PixPin_2026-06-15_10-37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910324"/>
            <a:ext cx="6858000" cy="38313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36000" y="2032000"/>
            <a:ext cx="6858000" cy="1270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9200" y="21590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角色定位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2489200"/>
            <a:ext cx="6451600" cy="711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一对一智能辅导，根据画像调整回答风格和深度；支持追问链。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6000" y="3492500"/>
            <a:ext cx="6858000" cy="2286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200" y="36195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4 种解答模式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9200" y="4165600"/>
            <a:ext cx="76200" cy="355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7000" y="4064000"/>
            <a:ext cx="2794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文字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7000" y="43942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Markdown 渲染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988800" y="4165600"/>
            <a:ext cx="76200" cy="355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6600" y="4064000"/>
            <a:ext cx="2794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图解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6600" y="43942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Mermaid/ASCII 流程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9200" y="4876800"/>
            <a:ext cx="76200" cy="355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17000" y="4775200"/>
            <a:ext cx="2794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视频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0" y="51054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脚本 + 时间戳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988800" y="4876800"/>
            <a:ext cx="76200" cy="355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166600" y="4775200"/>
            <a:ext cx="2794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6600" y="5105400"/>
            <a:ext cx="279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可执行片段 + 注释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36000" y="5969000"/>
            <a:ext cx="6858000" cy="2286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9200" y="6096000"/>
            <a:ext cx="6451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工程优化（5 项）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6451600"/>
            <a:ext cx="6451600" cy="1778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· 画像注入 system prompt
· 缓存去重（问题 + 模式双键）
· 追问链 parentId / followUpIds
· 点踩重新生成（含原因分析）
· AbortSignal 取消未完成请求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03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五大核心智能体设计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14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635000"/>
            <a:ext cx="127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2700000" cy="482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效果评估智能体 (Assessment Agent)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17600"/>
            <a:ext cx="11430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真实练习数据驱动 · 6 维雷达 · 智能调整建议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6000" y="2032000"/>
            <a:ext cx="7874000" cy="6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0000" y="2286000"/>
            <a:ext cx="1651000" cy="88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0000" y="2286000"/>
            <a:ext cx="50800" cy="889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2400" y="2387600"/>
            <a:ext cx="15240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Weibei SC"/>
                <a:ea typeface="Weibei SC"/>
              </a:rPr>
              <a:t>126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2400" y="2794000"/>
            <a:ext cx="152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已做题数 (题)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75000" y="2286000"/>
            <a:ext cx="1651000" cy="88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5000" y="2286000"/>
            <a:ext cx="50800" cy="889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7400" y="2387600"/>
            <a:ext cx="15240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Weibei SC"/>
                <a:ea typeface="Weibei SC"/>
              </a:rPr>
              <a:t>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7400" y="2794000"/>
            <a:ext cx="152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正确率 (%)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0" y="2286000"/>
            <a:ext cx="1651000" cy="88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0000" y="2286000"/>
            <a:ext cx="50800" cy="8890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2400" y="2387600"/>
            <a:ext cx="15240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Weibei SC"/>
                <a:ea typeface="Weibei SC"/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2400" y="2794000"/>
            <a:ext cx="152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学习时长 (小时)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85000" y="2286000"/>
            <a:ext cx="1651000" cy="88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85000" y="2286000"/>
            <a:ext cx="50800" cy="889000"/>
          </a:xfrm>
          <a:prstGeom prst="rect">
            <a:avLst/>
          </a:prstGeom>
          <a:solidFill>
            <a:srgbClr val="722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7400" y="2387600"/>
            <a:ext cx="15240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Weibei SC"/>
                <a:ea typeface="Weibei SC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7400" y="2794000"/>
            <a:ext cx="1524000" cy="25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OPPO Sans"/>
                <a:ea typeface="OPPO Sans"/>
              </a:rPr>
              <a:t>连续天数 (天)</a:t>
            </a:r>
          </a:p>
        </p:txBody>
      </p:sp>
      <p:pic>
        <p:nvPicPr>
          <p:cNvPr id="28" name="Picture 27" descr="_mock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3429000"/>
            <a:ext cx="3556000" cy="4699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080000" y="3429000"/>
            <a:ext cx="3556000" cy="469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3200" y="3581400"/>
            <a:ext cx="3149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OPPO Sans"/>
                <a:ea typeface="OPPO Sans"/>
              </a:rPr>
              <a:t>智能学习建议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0" y="4165600"/>
            <a:ext cx="127000" cy="127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7200" y="4064000"/>
            <a:ext cx="76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2D4470"/>
                </a:solidFill>
                <a:latin typeface="OPPO Sans"/>
                <a:ea typeface="OPPO Sans"/>
              </a:rPr>
              <a:t>知识基础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0" y="4064000"/>
            <a:ext cx="203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基础扎实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0" y="4673600"/>
            <a:ext cx="127000" cy="1270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7200" y="4572000"/>
            <a:ext cx="76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D3A518"/>
                </a:solidFill>
                <a:latin typeface="OPPO Sans"/>
                <a:ea typeface="OPPO Sans"/>
              </a:rPr>
              <a:t>易错偏好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0" y="4572000"/>
            <a:ext cx="203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易错于装饰器，建议专项练习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0" y="5181600"/>
            <a:ext cx="127000" cy="127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37200" y="5080000"/>
            <a:ext cx="76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2D4470"/>
                </a:solidFill>
                <a:latin typeface="OPPO Sans"/>
                <a:ea typeface="OPPO Sans"/>
              </a:rPr>
              <a:t>学习节奏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0" y="5080000"/>
            <a:ext cx="203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建议每天 45 分钟连续学习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0" y="5689600"/>
            <a:ext cx="127000" cy="127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7200" y="5588000"/>
            <a:ext cx="76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2D4470"/>
                </a:solidFill>
                <a:latin typeface="OPPO Sans"/>
                <a:ea typeface="OPPO Sans"/>
              </a:rPr>
              <a:t>兴趣方向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0000" y="5588000"/>
            <a:ext cx="2032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倾向 Web 开发，可拓展前后端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98000" y="2032000"/>
            <a:ext cx="6096000" cy="1905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0" y="2159000"/>
            <a:ext cx="5689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OPPO Sans"/>
                <a:ea typeface="OPPO Sans"/>
              </a:rPr>
              <a:t>▶ 真实进度同步（不造假）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489200"/>
            <a:ext cx="5689600" cy="1397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• 直接读取 practiceState（练习页写入）
• 监听 practiceStateUpdated 事件
• 无练习记录时显示引导提示
• 4 个统计卡 + 模块进度卡全基于真实数据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98000" y="4064000"/>
            <a:ext cx="60960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4191000"/>
            <a:ext cx="5689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OPPO Sans"/>
                <a:ea typeface="OPPO Sans"/>
              </a:rPr>
              <a:t>▶ 能力雷达（6 维）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4546600"/>
            <a:ext cx="5689600" cy="1397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• 知识基础 · 认知风格 · 易错偏好
• 学习节奏 · 兴趣方向 · 学习习惯
• Recharts RadarChart 实时更新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98000" y="6096000"/>
            <a:ext cx="6096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6223000"/>
            <a:ext cx="56896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OPPO Sans"/>
                <a:ea typeface="OPPO Sans"/>
              </a:rPr>
              <a:t>▶ 智能调整建议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78600"/>
            <a:ext cx="5689600" cy="1778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OPPO Sans"/>
                <a:ea typeface="OPPO Sans"/>
              </a:rPr>
              <a:t>• 薄弱维度专项练习
• 节奏建议（每日学习时长）
• 兴趣方向 相关路径推荐
• 整体调整：放慢/加速/转向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04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关键技术深挖与总结展望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15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016000"/>
            <a:ext cx="6858000" cy="6604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0" b="1">
                <a:solidFill>
                  <a:srgbClr val="E8E4DA"/>
                </a:solidFill>
                <a:latin typeface="Weibei SC"/>
                <a:ea typeface="Weibei SC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2794000"/>
            <a:ext cx="8890000" cy="1016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200" b="1">
                <a:solidFill>
                  <a:srgbClr val="2D4470"/>
                </a:solidFill>
                <a:latin typeface="Weibei SC"/>
                <a:ea typeface="Weibei SC"/>
              </a:rPr>
              <a:t>关键技术深挖与总结展望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0" y="3937000"/>
            <a:ext cx="762000" cy="254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0" y="4254500"/>
            <a:ext cx="88900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Key Technologies &amp; Outlook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4889500"/>
            <a:ext cx="8890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OPPO Sans"/>
                <a:ea typeface="OPPO Sans"/>
              </a:rPr>
              <a:t>本章范围 · P. 15 - 20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04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关键技术深挖与总结展望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16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多智能体协同框架与事件总线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MultiAgentScheduler + EventEmitter 完全解耦，代码精简 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59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OPPO Sans"/>
                <a:ea typeface="OPPO Sans"/>
              </a:rPr>
              <a:t>MultiAgentScheduler 核心类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540000"/>
            <a:ext cx="6858000" cy="215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41600"/>
            <a:ext cx="65532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OPPO Sans"/>
                <a:ea typeface="OPPO Sans"/>
              </a:rPr>
              <a:t>▶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6553200" cy="162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class MultiAgentScheduler {
    agents: Map&lt;Role, Agent&gt; // 角色 智能体
    eventBus: EventEmitter // 事件总线
    registerAgent(role, agent) // 注册智能体
    dispatch(role, task): Promise // 单智能体执行
    runPipeline(tasks): Result[] // 流水线式协作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953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OPPO Sans"/>
                <a:ea typeface="OPPO Sans"/>
              </a:rPr>
              <a:t>状态机 &amp; 关键设计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5334000"/>
            <a:ext cx="6858000" cy="2921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000" y="5334000"/>
            <a:ext cx="76200" cy="2921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6000" y="5524500"/>
            <a:ext cx="6451600" cy="2603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OPPO Sans"/>
                <a:ea typeface="OPPO Sans"/>
              </a:rPr>
              <a:t>planner 拆任务 派发给 6 个 worker 并行
worker 状态：pending running done / failed
失败自动重试 3 次（指数退避）
事件总线广播进度 UI 实时更新 5 worker 状态
解耦通信：仅通过 eventBus，新增智能体只需 registerAgent()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2159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OPPO Sans"/>
                <a:ea typeface="OPPO Sans"/>
              </a:rPr>
              <a:t>5 智能体事件总线协作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0" y="2540000"/>
            <a:ext cx="6858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0400" y="2641600"/>
            <a:ext cx="6553200" cy="2590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Profile Agent ── Resource Agent ── Path Agent
    │ profile:updated │ resource:done │ path:scheduled
Assessment ───────────── Tutor Agent ──────┘
    │ │ tutor:answered
    │ 
    └───── 答题反馈回流 ──── 推荐新路径
事件总线 EventEmitter：解耦通信，5 智能体共享进度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0" y="5588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OPPO Sans"/>
                <a:ea typeface="OPPO Sans"/>
              </a:rPr>
              <a:t>5 智能体协作矩阵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8000" y="5969000"/>
            <a:ext cx="6858000" cy="2286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0400" y="6070600"/>
            <a:ext cx="6553200" cy="2082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角色 输入 输出 触发事件
─────────────────────────────────────────────────────
Profile 对话/题答 6 维画像更新 profile:updated
Resource 学习目标 6 类资源 resource:generated
Path 画像+目标 结构化路径 path:scheduled
Tutor 问题+上下文 答案+思考 tutor:answered
Assessment 模块进度 评估报告 assessment:done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000" y="8382000"/>
            <a:ext cx="14732000" cy="508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2000" y="8382000"/>
            <a:ext cx="76200" cy="50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000" y="8483600"/>
            <a:ext cx="14224000" cy="304800"/>
          </a:xfrm>
          <a:prstGeom prst="rect">
            <a:avLst/>
          </a:prstGeom>
          <a:noFill/>
        </p:spPr>
        <p:txBody>
          <a:bodyPr wrap="square" lIns="101600" rIns="101600" tIns="50800" bIns="50800" anchor="ctr">
            <a:spAutoFit/>
          </a:bodyPr>
          <a:lstStyle/>
          <a:p>
            <a:pPr algn="l"/>
            <a:r>
              <a:rPr sz="1300" b="1">
                <a:solidFill>
                  <a:srgbClr val="2D4470"/>
                </a:solidFill>
                <a:latin typeface="OPPO Sans"/>
                <a:ea typeface="OPPO Sans"/>
              </a:rPr>
              <a:t>关键设计：智能体之间解耦（仅通过事件总线通信）· ResourceGenerator 在 Scheduler 之上封装，代码减少 40%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04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关键技术深挖与总结展望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17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流式交互与思考过程可视化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SSE + ReadableStream 打字机效果，思考过程可折叠，AbortSignal 中断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59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OPPO Sans"/>
                <a:ea typeface="OPPO Sans"/>
              </a:rPr>
              <a:t>streamChatCompletion 核心函数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540000"/>
            <a:ext cx="6858000" cy="2286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41600"/>
            <a:ext cx="65532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OPPO Sans"/>
                <a:ea typeface="OPPO Sans"/>
              </a:rPr>
              <a:t>▶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6553200" cy="1752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async function* streamChatCompletion(
    messages, onChunk, signal // AbortSignal 取消
) {
    const res = await fetch('/anthropic', {
    stream: true, signal
    })
    for await (const chunk of res.body) {
    const { text, thinking } = parseSSE(chunk)
    onChunk({ text, thinking }) // 打字机回调
    }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080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OPPO Sans"/>
                <a:ea typeface="OPPO Sans"/>
              </a:rPr>
              <a:t>SSE 打字机时序图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5461000"/>
            <a:ext cx="6858000" cy="279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62600"/>
            <a:ext cx="6553200" cy="2590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用户输入 ── POST /anthropic (stream: true)
SSE chunk 1 ── onChunk("你") ── 显示 "你"
SSE chunk 2 ── onChunk("好") ── 显示 "好"
SSE chunk 3 ── onChunk("世") ── 显示 "世"
... (直到 stop_reason)
done event ── onComplete() ── 显示 完成
取消：signal.abort() ── fetch 中断 ── 显示 "已取消"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2159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OPPO Sans"/>
                <a:ea typeface="OPPO Sans"/>
              </a:rPr>
              <a:t>实际流式效果截图</a:t>
            </a:r>
          </a:p>
        </p:txBody>
      </p:sp>
      <p:pic>
        <p:nvPicPr>
          <p:cNvPr id="19" name="Picture 18" descr="PixPin_2026-06-15_10-36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105980"/>
            <a:ext cx="6858000" cy="11540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128000" y="7366000"/>
            <a:ext cx="6858000" cy="10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0" y="7366000"/>
            <a:ext cx="76200" cy="101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1200" y="7518400"/>
            <a:ext cx="6451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OPPO Sans"/>
                <a:ea typeface="OPPO Sans"/>
              </a:rPr>
              <a:t>AbortSignal 取消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1200" y="7899400"/>
            <a:ext cx="6451600" cy="431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流式中点击取消 触发 controller.abort()
fetch 立即中断，UI 显示 "已取消" 状态。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04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关键技术深挖与总结展望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18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路径与练习双向同步闭环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StructuredLearningNode + localStorage + 80% 完成度阈值，杜绝 AI 幻觉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59000"/>
            <a:ext cx="1371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OPPO Sans"/>
                <a:ea typeface="OPPO Sans"/>
              </a:rPr>
              <a:t>数据流图：Path  localStorage  Practice  Assessment 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794000"/>
            <a:ext cx="2540000" cy="762000"/>
          </a:xfrm>
          <a:prstGeom prst="roundRect">
            <a:avLst>
              <a:gd name="adj" fmla="val 15000"/>
            </a:avLst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OPPO Sans"/>
              </a:rPr>
              <a:t>Path 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02000" y="3175000"/>
            <a:ext cx="76200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4000" y="2794000"/>
            <a:ext cx="2540000" cy="762000"/>
          </a:xfrm>
          <a:prstGeom prst="roundRect">
            <a:avLst>
              <a:gd name="adj" fmla="val 15000"/>
            </a:avLst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OPPO Sans"/>
              </a:rPr>
              <a:t>localStorage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04000" y="3175000"/>
            <a:ext cx="76200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6000" y="2794000"/>
            <a:ext cx="2540000" cy="762000"/>
          </a:xfrm>
          <a:prstGeom prst="roundRect">
            <a:avLst>
              <a:gd name="adj" fmla="val 15000"/>
            </a:avLst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OPPO Sans"/>
              </a:rPr>
              <a:t>Practice 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06000" y="3175000"/>
            <a:ext cx="76200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68000" y="2794000"/>
            <a:ext cx="2540000" cy="7620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OPPO Sans"/>
              </a:rPr>
              <a:t>Assessment 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657600"/>
            <a:ext cx="254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写入 activeStructuredPath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4000" y="3657600"/>
            <a:ext cx="254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单一数据源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6000" y="3657600"/>
            <a:ext cx="254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读取 + 过滤模块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0" y="3657600"/>
            <a:ext cx="2540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读取 + 进度展示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6000" y="4064000"/>
            <a:ext cx="81280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200" b="1">
                <a:solidFill>
                  <a:srgbClr val="002060"/>
                </a:solidFill>
                <a:latin typeface="OPPO Sans"/>
                <a:ea typeface="OPPO Sans"/>
              </a:rPr>
              <a:t>做题结果回流  画像更新  推荐新路径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572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OPPO Sans"/>
                <a:ea typeface="OPPO Sans"/>
              </a:rPr>
              <a:t>StructuredLearningNode 核心接口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000" y="4953000"/>
            <a:ext cx="6858000" cy="2032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54600"/>
            <a:ext cx="65532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OPPO Sans"/>
                <a:ea typeface="OPPO Sans"/>
              </a:rPr>
              <a:t>▶ TypeScript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84800"/>
            <a:ext cx="6553200" cy="1498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interface StructuredLearningNode {
  id: string
  type: 'concept' | 'quiz' | 'practice'
  questionBankId: string // 关联题库（关键）
  moduleId: string // 关联模块（关键）
  score?: number // 完成度 0-1
}
const THRESHOLD = 0.8 // 80% 完成度阈值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7239000"/>
            <a:ext cx="6858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OPPO Sans"/>
                <a:ea typeface="OPPO Sans"/>
              </a:rPr>
              <a:t>学习节点依赖 DAG（Python 模块为例）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7620000"/>
            <a:ext cx="6858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7721600"/>
            <a:ext cx="6553200" cy="939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[基础语法] -&gt; [控制流] -&gt; [函数] -&gt; [装饰器]
    |         |         |
[数据类型] [异常处理] [闭包]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8000" y="4953000"/>
            <a:ext cx="6858000" cy="12065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28000" y="4953000"/>
            <a:ext cx="76200" cy="12065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1200" y="5105400"/>
            <a:ext cx="6451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12 题库 × 48 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1200" y="5511800"/>
            <a:ext cx="6451600" cy="571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576 道题全预写，AI 只判分不生成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8000" y="6350000"/>
            <a:ext cx="6858000" cy="12065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8000" y="6350000"/>
            <a:ext cx="76200" cy="1206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1200" y="6502400"/>
            <a:ext cx="6451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D3A518"/>
                </a:solidFill>
                <a:latin typeface="OPPO Sans"/>
                <a:ea typeface="OPPO Sans"/>
              </a:rPr>
              <a:t>80% 阈值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1200" y="6908800"/>
            <a:ext cx="6451600" cy="571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模块完成度达 80% 自动标记为 done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8000" y="7747000"/>
            <a:ext cx="6858000" cy="12065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8000" y="7747000"/>
            <a:ext cx="76200" cy="12065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1200" y="7899400"/>
            <a:ext cx="64516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OPPO Sans"/>
                <a:ea typeface="OPPO Sans"/>
              </a:rPr>
              <a:t>customEvent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1200" y="8305800"/>
            <a:ext cx="6451600" cy="5715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解耦通信，跨页面 / 跨组件零依赖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04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关键技术深挖与总结展望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19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系统评估与核心性能指标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576 题库 + 92% 判分一致率 + &lt;2s 首字延迟 + 0 严重缺陷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2286000"/>
            <a:ext cx="1524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关键指标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2667000"/>
            <a:ext cx="3238500" cy="1524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905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667000"/>
            <a:ext cx="3238500" cy="762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9200" y="2946400"/>
            <a:ext cx="2832100" cy="558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400" b="1">
                <a:solidFill>
                  <a:srgbClr val="2D4470"/>
                </a:solidFill>
                <a:latin typeface="Weibei SC"/>
                <a:ea typeface="Weibei SC"/>
              </a:rPr>
              <a:t>576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35052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OPPO Sans"/>
                <a:ea typeface="OPPO Sans"/>
              </a:rPr>
              <a:t>题库总题数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8100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12 库 × 48 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8500" y="2667000"/>
            <a:ext cx="3238500" cy="1524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9050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8500" y="2667000"/>
            <a:ext cx="3238500" cy="762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1700" y="2946400"/>
            <a:ext cx="2832100" cy="558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400" b="1">
                <a:solidFill>
                  <a:srgbClr val="D3A518"/>
                </a:solidFill>
                <a:latin typeface="Weibei SC"/>
                <a:ea typeface="Weibei SC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1700" y="35052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OPPO Sans"/>
                <a:ea typeface="OPPO Sans"/>
              </a:rPr>
              <a:t>AI 简答判分一致性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1700" y="38100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与人工判分比对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667000"/>
            <a:ext cx="3238500" cy="1524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2667000"/>
            <a:ext cx="3238500" cy="76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4200" y="2946400"/>
            <a:ext cx="2832100" cy="558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400" b="1">
                <a:solidFill>
                  <a:srgbClr val="002060"/>
                </a:solidFill>
                <a:latin typeface="Weibei SC"/>
                <a:ea typeface="Weibei SC"/>
              </a:rPr>
              <a:t>&lt;2s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4200" y="35052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OPPO Sans"/>
                <a:ea typeface="OPPO Sans"/>
              </a:rPr>
              <a:t>路径生成响应时间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4200" y="38100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流式首字延迟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93500" y="2667000"/>
            <a:ext cx="3238500" cy="1524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93500" y="2667000"/>
            <a:ext cx="32385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96700" y="2946400"/>
            <a:ext cx="2832100" cy="558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400" b="1">
                <a:solidFill>
                  <a:srgbClr val="C00000"/>
                </a:solidFill>
                <a:latin typeface="Weibei SC"/>
                <a:ea typeface="Weibei SC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96700" y="35052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OPPO Sans"/>
                <a:ea typeface="OPPO Sans"/>
              </a:rPr>
              <a:t>已知严重缺陷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96700" y="3810000"/>
            <a:ext cx="2832100" cy="279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OPPO Sans"/>
                <a:ea typeface="OPPO Sans"/>
              </a:rPr>
              <a:t>npm run build 通过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800" y="4699000"/>
            <a:ext cx="1524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4 项测试结论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6000" y="5080000"/>
            <a:ext cx="14224000" cy="82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6000" y="5080000"/>
            <a:ext cx="101600" cy="8255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000" y="5207000"/>
            <a:ext cx="228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2D4470"/>
                </a:solidFill>
                <a:latin typeface="OPPO Sans"/>
                <a:ea typeface="OPPO Sans"/>
              </a:rPr>
              <a:t>题库覆盖度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3000" y="5232400"/>
            <a:ext cx="11176000" cy="609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12 个题库覆盖 Python 基础、Web、数据结构、计算机网络、操作系统等；题型 6:3:1（判断:选择:简答）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6000" y="6007100"/>
            <a:ext cx="14224000" cy="82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6000" y="6007100"/>
            <a:ext cx="101600" cy="8255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0000" y="6134100"/>
            <a:ext cx="228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D3A518"/>
                </a:solidFill>
                <a:latin typeface="OPPO Sans"/>
                <a:ea typeface="OPPO Sans"/>
              </a:rPr>
              <a:t>AI 简答判分一致性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3000" y="6159500"/>
            <a:ext cx="11176000" cy="609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随机抽 30 道简答，对比 AI 判分与人工判分；一致率 92%；不一致多为开放性题目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6000" y="6934200"/>
            <a:ext cx="14224000" cy="82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6000" y="6934200"/>
            <a:ext cx="101600" cy="8255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0000" y="7061200"/>
            <a:ext cx="228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002060"/>
                </a:solidFill>
                <a:latin typeface="OPPO Sans"/>
                <a:ea typeface="OPPO Sans"/>
              </a:rPr>
              <a:t>跨页面同步验证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83000" y="7086600"/>
            <a:ext cx="11176000" cy="609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Practice  Assessment 实时同步；路径采用 Practice 模块过滤；缓存命中 = 100%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6000" y="7861300"/>
            <a:ext cx="14224000" cy="82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6000" y="7861300"/>
            <a:ext cx="101600" cy="8255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70000" y="7988300"/>
            <a:ext cx="2286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OPPO Sans"/>
                <a:ea typeface="OPPO Sans"/>
              </a:rPr>
              <a:t>性能指标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3000" y="8013700"/>
            <a:ext cx="11176000" cy="609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首屏 &lt; 1.5s；流式首字 &lt; 2s；多智能体协作 6 worker 并发完成 &lt; 8s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04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关键技术深挖与总结展望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20 /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863600"/>
            <a:ext cx="762000" cy="1905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15646400" cy="584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3000" b="1">
                <a:solidFill>
                  <a:srgbClr val="2D4470"/>
                </a:solidFill>
                <a:latin typeface="Weibei SC"/>
                <a:ea typeface="Weibei SC"/>
              </a:rPr>
              <a:t>创新价值沉淀与未来演进方向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1625600"/>
            <a:ext cx="156464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架构 / 数据 / 交互 / 工程 4 维度 5 项创新 + 3 大未来方向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159000"/>
            <a:ext cx="13716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OPPO Sans"/>
                <a:ea typeface="OPPO Sans"/>
              </a:rPr>
              <a:t>5 项核心创新沉淀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667000"/>
            <a:ext cx="2794000" cy="1968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2000" y="2667000"/>
            <a:ext cx="27940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702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OPPO Sans"/>
                <a:ea typeface="OPPO San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766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PO Sans"/>
                <a:ea typeface="OPPO Sans"/>
              </a:rPr>
              <a:t>5 智能体协同框架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2489200" cy="9271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MultiAgentScheduler 统一调度
事件总线解耦通信
6 worker 并行生成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667000"/>
            <a:ext cx="2794000" cy="1968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2667000"/>
            <a:ext cx="2794000" cy="1016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0000" y="28702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0" y="32766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PO Sans"/>
                <a:ea typeface="OPPO Sans"/>
              </a:rPr>
              <a:t>6 维动态画像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0" y="3657600"/>
            <a:ext cx="2489200" cy="9271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对话式构建 + 做题反馈回流
随学随新、跨页面共享
下游智能体 prompt 注入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3200" y="2667000"/>
            <a:ext cx="2794000" cy="1968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53200" y="2667000"/>
            <a:ext cx="2794000" cy="101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5600" y="28702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D3A518"/>
                </a:solidFill>
                <a:latin typeface="OPPO Sans"/>
                <a:ea typeface="OPPO San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600" y="32766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PO Sans"/>
                <a:ea typeface="OPPO Sans"/>
              </a:rPr>
              <a:t>结构化路径节点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0" y="3657600"/>
            <a:ext cx="2489200" cy="9271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StructuredLearningNode 绑定题库
80% 阈值自动标记
12 预定义 + AI 自由生成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48800" y="2667000"/>
            <a:ext cx="2794000" cy="1968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48800" y="2667000"/>
            <a:ext cx="2794000" cy="101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8702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OPPO Sans"/>
                <a:ea typeface="OPPO San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2766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PO Sans"/>
                <a:ea typeface="OPPO Sans"/>
              </a:rPr>
              <a:t>流式思考可视化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657600"/>
            <a:ext cx="2489200" cy="9271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SSE + ReadableStream
&lt;thinking&gt; 块可折叠
AbortSignal 中途取消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0" y="2667000"/>
            <a:ext cx="2794000" cy="1968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44400" y="2667000"/>
            <a:ext cx="2794000" cy="1016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96800" y="28702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D3A518"/>
                </a:solidFill>
                <a:latin typeface="OPPO Sans"/>
                <a:ea typeface="OPPO San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96800" y="3276600"/>
            <a:ext cx="24892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PO Sans"/>
                <a:ea typeface="OPPO Sans"/>
              </a:rPr>
              <a:t>Tutor 5 项工程优化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96800" y="3657600"/>
            <a:ext cx="2489200" cy="9271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OPPO Sans"/>
                <a:ea typeface="OPPO Sans"/>
              </a:rPr>
              <a:t>画像注入 + 缓存去重
追问链 + 点踩重生
AbortSignal 取消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" y="4953000"/>
            <a:ext cx="13716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700" b="1">
                <a:solidFill>
                  <a:srgbClr val="2D4470"/>
                </a:solidFill>
                <a:latin typeface="OPPO Sans"/>
                <a:ea typeface="OPPO Sans"/>
              </a:rPr>
              <a:t>3 大未来演进方向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2000" y="5461000"/>
            <a:ext cx="4572000" cy="215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9050">
            <a:solidFill>
              <a:srgbClr val="D3A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2000" y="5461000"/>
            <a:ext cx="101600" cy="21590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000" y="5651500"/>
            <a:ext cx="4064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D3A518"/>
                </a:solidFill>
                <a:latin typeface="OPPO Sans"/>
                <a:ea typeface="OPPO Sans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" y="6032500"/>
            <a:ext cx="40640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OPPO Sans"/>
                <a:ea typeface="OPPO Sans"/>
              </a:rPr>
              <a:t>多模态扩展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000" y="6502400"/>
            <a:ext cx="4064000" cy="990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接入图像与语音识别大模型，支持拍照搜题、语音问答等更自然的交互形态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88000" y="5461000"/>
            <a:ext cx="4572000" cy="215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9050">
            <a:solidFill>
              <a:srgbClr val="2D4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88000" y="5461000"/>
            <a:ext cx="101600" cy="2159000"/>
          </a:xfrm>
          <a:prstGeom prst="rect">
            <a:avLst/>
          </a:prstGeom>
          <a:solidFill>
            <a:srgbClr val="2D4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42000" y="5651500"/>
            <a:ext cx="4064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2D4470"/>
                </a:solidFill>
                <a:latin typeface="OPPO Sans"/>
                <a:ea typeface="OPPO Sans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0" y="6032500"/>
            <a:ext cx="40640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OPPO Sans"/>
                <a:ea typeface="OPPO Sans"/>
              </a:rPr>
              <a:t>知识图谱构建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0" y="6502400"/>
            <a:ext cx="4064000" cy="990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引入学科底层知识图谱，使路径推荐从「标签匹配」升级为「逻辑推理」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14000" y="5461000"/>
            <a:ext cx="4572000" cy="2159000"/>
          </a:xfrm>
          <a:prstGeom prst="roundRect">
            <a:avLst>
              <a:gd name="adj" fmla="val 4000"/>
            </a:avLst>
          </a:prstGeom>
          <a:solidFill>
            <a:srgbClr val="F4F1EA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14000" y="5461000"/>
            <a:ext cx="101600" cy="2159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68000" y="5651500"/>
            <a:ext cx="4064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OPPO Sans"/>
                <a:ea typeface="OPPO Sans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68000" y="6032500"/>
            <a:ext cx="4064000" cy="4064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OPPO Sans"/>
                <a:ea typeface="OPPO Sans"/>
              </a:rPr>
              <a:t>跨用户协作网络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68000" y="6502400"/>
            <a:ext cx="4064000" cy="990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OPPO Sans"/>
                <a:ea typeface="OPPO Sans"/>
              </a:rPr>
              <a:t>开发学习小组、同伴互评与错题共享功能，从个体学习向社交化协同学习延伸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4800" y="8001000"/>
            <a:ext cx="15138400" cy="50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4800" y="8001000"/>
            <a:ext cx="15138400" cy="508000"/>
          </a:xfrm>
          <a:prstGeom prst="rect">
            <a:avLst/>
          </a:prstGeom>
          <a:noFill/>
        </p:spPr>
        <p:txBody>
          <a:bodyPr wrap="square" lIns="101600" rIns="101600" tIns="50800" bIns="508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PPO Sans"/>
                <a:ea typeface="OPPO Sans"/>
              </a:rPr>
              <a:t>我们相信：AI + 教育 = 每个学生都拥有专属的学习智能体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7800" y="76200"/>
            <a:ext cx="10160000" cy="203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05    </a:t>
            </a:r>
            <a:r>
              <a:rPr sz="850">
                <a:solidFill>
                  <a:srgbClr val="FFFFFF"/>
                </a:solidFill>
                <a:latin typeface="OPPO Sans"/>
                <a:ea typeface="OPPO Sans"/>
              </a:rPr>
              <a:t>致谢</a:t>
            </a:r>
          </a:p>
        </p:txBody>
      </p:sp>
      <p:pic>
        <p:nvPicPr>
          <p:cNvPr id="4" name="Picture 3" descr="图片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1400" y="25400"/>
            <a:ext cx="1066800" cy="30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8915400"/>
            <a:ext cx="16256000" cy="228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800" y="8940800"/>
            <a:ext cx="7620000" cy="177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  <a:latin typeface="OPPO Sans"/>
                <a:ea typeface="OPPO Sans"/>
              </a:rPr>
              <a:t>学习智能体系统 · Multi-Agent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7000" y="8928100"/>
            <a:ext cx="711200" cy="203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r"/>
            <a:r>
              <a:rPr sz="850" b="1">
                <a:solidFill>
                  <a:srgbClr val="D3A518"/>
                </a:solidFill>
                <a:latin typeface="OPPO Sans"/>
                <a:ea typeface="OPPO Sans"/>
              </a:rPr>
              <a:t>21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286000"/>
            <a:ext cx="13970000" cy="1778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8000" b="1">
                <a:solidFill>
                  <a:srgbClr val="2D4470"/>
                </a:solidFill>
                <a:latin typeface="Weibei SC"/>
                <a:ea typeface="Weibei SC"/>
              </a:rPr>
              <a:t>感谢聆听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191000"/>
            <a:ext cx="13970000" cy="4572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THANK YOU FOR YOUR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74000" y="4826000"/>
            <a:ext cx="762000" cy="25400"/>
          </a:xfrm>
          <a:prstGeom prst="rect">
            <a:avLst/>
          </a:prstGeom>
          <a:solidFill>
            <a:srgbClr val="D3A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5334000"/>
            <a:ext cx="13970000" cy="5080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2000" b="0">
                <a:solidFill>
                  <a:srgbClr val="1A1A1A"/>
                </a:solidFill>
                <a:latin typeface="OPPO Sans"/>
                <a:ea typeface="OPPO Sans"/>
              </a:rPr>
              <a:t>欢迎评委老师批评指正 · 提问交流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6858000"/>
            <a:ext cx="13970000" cy="3556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400" b="0">
                <a:solidFill>
                  <a:srgbClr val="444444"/>
                </a:solidFill>
                <a:latin typeface="OPPO Sans"/>
                <a:ea typeface="OPPO Sans"/>
              </a:rPr>
              <a:t>[队伍名称]  ·  [学校名称]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7302500"/>
            <a:ext cx="13970000" cy="304800"/>
          </a:xfrm>
          <a:prstGeom prst="rect">
            <a:avLst/>
          </a:prstGeom>
          <a:noFill/>
        </p:spPr>
        <p:txBody>
          <a:bodyPr wrap="square" lIns="101600" rIns="101600" tIns="50800" bIns="50800" anchor="t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OPPO Sans"/>
                <a:ea typeface="OPPO Sans"/>
              </a:rPr>
              <a:t>2026.07  ·  第十五届中国软件杯 · A3 赛题</a:t>
            </a:r>
          </a:p>
        </p:txBody>
      </p:sp>
      <p:sp>
        <p:nvSpPr>
          <p:cNvPr id="14" name="Oval 13"/>
          <p:cNvSpPr/>
          <p:nvPr/>
        </p:nvSpPr>
        <p:spPr>
          <a:xfrm>
            <a:off x="-1016000" y="6350000"/>
            <a:ext cx="3048000" cy="3048000"/>
          </a:xfrm>
          <a:prstGeom prst="ellipse">
            <a:avLst/>
          </a:prstGeom>
          <a:solidFill>
            <a:srgbClr val="D3A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