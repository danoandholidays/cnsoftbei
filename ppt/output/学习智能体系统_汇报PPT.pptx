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4" d="100"/>
          <a:sy n="94" d="100"/>
        </p:scale>
        <p:origin x="19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1953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各位评委老师好，我是本项目的汇报人。今天我将为大家展示我们团队在第十五届中国软件杯A3赛题中的参赛作品——'学习智能体系统'。这是一个由多智能体协同驱动的个性化学习平台，旨在解决传统教育平台的痛点，让每个学生都能拥有专属的AI学习助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次汇报将分为四个核心部分：首先进行项目导入，分析行业痛点与赛题对标；其次拆解系统的四层总体架构与技术选型；接着深入剖析五大核心智能体的具体设计；最后挖掘多智能体协同等关键技术，并总结项目的创新点与未来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首先，我们进入第一部分：项目导入与需求对标。我们将探讨当前AI教育市场的趋势，分析传统学习平台面临的挑战，并展示我们的系统如何精准响应A3赛题的各项严苛要求。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大家请看这页的市场背景分析。当前AI教育市场正处于爆发期，超过60%的学生认为AI个性化辅导优于传统课堂，自适应学习平台用户近2年增长了3倍。然而，传统平台存在三大痛点：资源繁杂分散、全班统一进度难以个性化、以及错题反馈严重滞后。针对这些问题，我们的项目提出了四大差异化定位：通过5类智能体分工协作、构建6维动态画像、设计结构化路径，并实现思考过程的流式可视化，真正做到'随学随新、贴合个体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作为软件杯的参赛作品，赛题对标是我们的核心考核点。A3赛题提出了5项功能需求和4项非功能需求。大家可以看到这张对标表，在功能层面，我们不仅实现了6维对话式画像、多智能体资源生成和个性化路径规划，还超额完成了作为加分项的智能辅导与学习效果评估。在非功能层面，流式输出、防幻觉机制、响应时间追踪等要求也均已通过工程化手段完美落地。可以说，我们100%覆盖了赛题要求，并在多个维度实现了超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接下来，我们进入第二部分：系统架构与技术选型。我将为大家拆解支撑这五大智能体高效运转的底层架构，以及我们在前端、AI交互和数据可视化方面的技术考量。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在系统架构设计上，我们采用了清晰的四层架构。最上层是基于React 19和Ant Design 6构建的表现层，提供企业级的UI交互；第二层是API网关，通过Vite代理无缝对接大模型接口；第三层是核心的多智能体框架，包含调度器和事件总线，负责5类智能体的协同工作；最底层是数据层，我们创新性地使用了localStorage结合本地JSON题库，实现了12个题库576道题的持久化。这种设计的最大优势是实现了零外部依赖，一行命令即可启动整个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在技术选型方面，我们坚持'主流成熟+前沿AI+轻量可视化'的原则。前端选用React 19配合TypeScript，确保类型安全与极速的HMR开发体验；AI层全面兼容Anthropic协议，深度应用SSE流式传输与AbortSignal，完美实现打字机效果与请求中断控制；数据可视化则采用Recharts和Ant Design内置组件，精准呈现6维能力雷达与学习进度时间线。所有技术栈均经过严格筛选，在前沿与稳健之间取得了最佳平衡。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现在，我们进入本次汇报的核心部分：五大核心智能体设计。我们将逐一拆解画像、资源、路径、辅导和评估这五个智能体，看看它们是如何分工协作，为学生提供全方位学习支持的。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首先是系统的'大脑'——画像构建智能体。它摒弃了传统的静态问卷，采用自然语言对话式交互，从知识基础、认知风格、易错偏好、学习节奏、兴趣方向和学习习惯6个维度动态构建学习者画像。最关键的特性是'随学随新'：学生在练习页的每一次做题反馈，都会通过事件总线实时回流到画像中进行更新。这个6维画像会作为系统prompt，自动注入到后续所有智能体的上下文中，确保每一次资源推荐和辅导都基于学生最新的认知状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接下来是资源生成智能体。当学生确定学习目标后，它会启动一个多智能体协作流水线。首先由Planner智能体拆解任务，然后派发给5类Worker智能体并行工作，支持生成文档、思维导图、测验、阅读、视频脚本和代码案例共6种定制资源。在这个过程中，前端通过SSE流式回传每个Worker的实时状态（如pending、running、done），让用户清晰看到AI的工作进度。同时，系统支持失败自动重试和中途一键取消，确保长耗时场景下的稳定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路径规划智能体负责为学生规划学习路线。我们设计了'双轨模式'：既支持AI根据画像自由生成节点列表，也内置了12条如'Python全栈工程师'、'算法工程师'等预定义的结构化路径供一键采用。这里的核心技术亮点是'双向同步'：每个路径节点都深度绑定了具体的题库和模块ID。当学生在练习页做题时，系统会按当前激活的路径过滤模块；当模块完成度达到80%的阈值时，路径Banner会实时标记完成，并触发事件通知评估页更新雷达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辅导答疑智能体扮演着一对一AI导师的角色。它支持文字Markdown、Mermaid图解、视频脚本和可执行代码4种解答模式，满足不同学科的辅导需求。在工程优化上我们做了5项深度打磨：首先是画像注入，让AI用学生最容易理解的方式讲解；其次是缓存去重和追问链设计，支持深度探讨；最后是点踩重新生成与AbortSignal取消功能。这些细节优化让AI辅导不再是冷冰冰的问答，而是具备记忆和纠错能力的深度互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最后是效果评估智能体。我们坚持'真实进度同步、绝不造假'的原则，所有统计卡片和模块进度均直接读取练习页写入的真实数据。在此基础上，系统利用 Recharts 实时渲染 6 维能力雷达图，直观暴露学生的知识盲区。更重要的是，它会基于雷达图生成智能调整建议，比如针对易错的'装饰器'知识点推荐专项练习，或者根据学习节奏建议每日时长，甚至推荐相关的发展路径，真正实现'以评促学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在了解了五大智能体的功能后，第四部分我们将深入底层，深挖多智能体协同、流式输出等关键技术的实现细节，并对整个项目进行系统评估与未来展望。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多智能体协同是整个系统的技术基石。我们自研了 MultiAgentScheduler 核心类，通过 TypeScript 的 Map 管理角色与智能体的映射。最关键的设计是引入了 EventEmitter 事件总线，实现了5个智能体之间的完全解耦通信。比如，Profile Agent 更新画像后广播事件，Resource Agent 监听并生成资源，整个过程无需硬编码依赖。这种设计使得新增智能体只需调用 registerAgent()，让代码量大幅减少40%。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在AI交互体验上，我们深度优化了流式输出。通过封装 streamChatCompletion 函数，利用 Fetch API 和 ReadableStream 逐 chunk 解析 SSE 数据，实现了丝滑的打字机效果。更具特色的是'思考过程可视化'：我们将大模型输出的 &lt;thinking&gt; 块默认折叠在'思考过程'标签下，用户点击即可展开查看AI的推理逻辑，这在教学场景中极大地增强了可信度。同时，结合 axios 重试与超时控制，即使在弱网环境下也能稳定输出。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路径与练习的双向同步是保证学习闭环的关键。我们定义了 StructuredLearningNode 接口，强制每个节点绑定 questionBankId 和 moduleId。在数据流上，Path 页将激活路径写入 localStorage 作为单一数据源，Practice 页读取并过滤出对应模块的题目。我们内置了12个题库共576道全预写的题目，AI只负责判分不负责生成题目，这从根本上杜绝了AI幻觉问题。当模块完成度达80%时，通过 customEvent 广播进度，触发 Assessment 雷达图实时更新。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在系统交付前，我们进行了严格的测试评估。核心指标方面：系统内置576道题目覆盖主流计算机学科；AI简答判分与人工判分的一致率高达92%；流式首字延迟控制在2秒以内；且 npm run build 零严重缺陷通过。在测试结论上，12个题库的题型比例科学，跨页面同步缓存命中率达到100%，多智能体6个Worker并发完成时间小于8秒。这些数据充分证明了系统不仅功能完备，而且在工程性能和稳定性上达到了生产级标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总结来看，本项目在架构、数据、交互和工程四个维度沉淀了5项核心创新：多智能体协同框架、6维动态画像、结构化路径节点、流式思考可视化以及Tutor的5项工程优化。展望未来，我们将继续拓展系统的边界：一是接入图像与语音识别，实现拍照搜题等多模态交互；二是构建底层学科知识图谱，让路径推荐具备真正的逻辑推理能力；三是引入跨用户协作，支持学习小组与同伴互评。我们相信，AI加教育的终局，是让每个学生都拥有最懂自己的学习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以上就是我们团队关于'学习智能体系统'的全部汇报内容。感谢各位评委老师的耐心聆听与批评指正。本项目使用了React、TypeScript、Vite、Ant Design、Recharts、python-pptx等众多优秀的开源组件，在此一并致谢。接下来是Q&amp;A环节，欢迎老师们批评指正、提问交流。谢谢大家！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762000" y="508000"/>
            <a:ext cx="3302000" cy="3302000"/>
          </a:xfrm>
          <a:prstGeom prst="ellipse">
            <a:avLst/>
          </a:prstGeom>
          <a:solidFill>
            <a:srgbClr val="2A4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1016000"/>
            <a:ext cx="10160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600" b="0">
                <a:solidFill>
                  <a:srgbClr val="8899BB"/>
                </a:solidFill>
                <a:latin typeface="Microsoft YaHei"/>
                <a:ea typeface="Microsoft YaHei"/>
              </a:rPr>
              <a:t>第十五届中国软件杯 · A3 赛题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1524000"/>
            <a:ext cx="508000" cy="38100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2000" y="1879600"/>
            <a:ext cx="10668000" cy="1397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Microsoft YaHei"/>
                <a:ea typeface="Microsoft YaHei"/>
              </a:rPr>
              <a:t>学习智能体系统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378200"/>
            <a:ext cx="10668000" cy="558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Microsoft YaHei"/>
                <a:ea typeface="Microsoft YaHei"/>
              </a:rPr>
              <a:t>多智能体协同驱动的个性化学习平台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3987800"/>
            <a:ext cx="10668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0">
                <a:solidFill>
                  <a:srgbClr val="8899BB"/>
                </a:solidFill>
                <a:latin typeface="Microsoft YaHei"/>
                <a:ea typeface="Microsoft YaHei"/>
              </a:rPr>
              <a:t>Multi-Agent Driven Personalized Learning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699000"/>
            <a:ext cx="1778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D6001C"/>
                </a:solidFill>
                <a:latin typeface="Microsoft YaHei"/>
                <a:ea typeface="Microsoft YaHei"/>
              </a:rPr>
              <a:t>✦  5智能体协同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67000" y="4699000"/>
            <a:ext cx="1778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D6001C"/>
                </a:solidFill>
                <a:latin typeface="Microsoft YaHei"/>
                <a:ea typeface="Microsoft YaHei"/>
              </a:rPr>
              <a:t>✦  6维动态画像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699000"/>
            <a:ext cx="1778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D6001C"/>
                </a:solidFill>
                <a:latin typeface="Microsoft YaHei"/>
                <a:ea typeface="Microsoft YaHei"/>
              </a:rPr>
              <a:t>✦  SSE流式交互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0" y="4699000"/>
            <a:ext cx="1778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D6001C"/>
                </a:solidFill>
                <a:latin typeface="Microsoft YaHei"/>
                <a:ea typeface="Microsoft YaHei"/>
              </a:rPr>
              <a:t>✦  576题库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4699000"/>
            <a:ext cx="1778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D6001C"/>
                </a:solidFill>
                <a:latin typeface="Microsoft YaHei"/>
                <a:ea typeface="Microsoft YaHei"/>
              </a:rPr>
              <a:t>✦  92%判分一致率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4699000"/>
            <a:ext cx="1778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D6001C"/>
                </a:solidFill>
                <a:latin typeface="Microsoft YaHei"/>
                <a:ea typeface="Microsoft YaHei"/>
              </a:rPr>
              <a:t>✦  零外部依赖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461000"/>
            <a:ext cx="1143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D6001C"/>
                </a:solidFill>
                <a:latin typeface="Microsoft YaHei"/>
                <a:ea typeface="Microsoft YaHei"/>
              </a:rPr>
              <a:t>队伍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2000" y="5461000"/>
            <a:ext cx="5080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</a:rPr>
              <a:t>[队伍名称]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5740400"/>
            <a:ext cx="1143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D6001C"/>
                </a:solidFill>
                <a:latin typeface="Microsoft YaHei"/>
                <a:ea typeface="Microsoft YaHei"/>
              </a:rPr>
              <a:t>学校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2000" y="5740400"/>
            <a:ext cx="5080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</a:rPr>
              <a:t>[学校名称]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6019800"/>
            <a:ext cx="1143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D6001C"/>
                </a:solidFill>
                <a:latin typeface="Microsoft YaHei"/>
                <a:ea typeface="Microsoft YaHei"/>
              </a:rPr>
              <a:t>汇报人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32000" y="6019800"/>
            <a:ext cx="5080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</a:rPr>
              <a:t>[汇报人姓名]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6299200"/>
            <a:ext cx="1143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D6001C"/>
                </a:solidFill>
                <a:latin typeface="Microsoft YaHei"/>
                <a:ea typeface="Microsoft YaHei"/>
              </a:rPr>
              <a:t>指导老师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2000" y="6299200"/>
            <a:ext cx="5080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</a:rPr>
              <a:t>[指导老师姓名]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" y="6578600"/>
            <a:ext cx="1143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D6001C"/>
                </a:solidFill>
                <a:latin typeface="Microsoft YaHei"/>
                <a:ea typeface="Microsoft YaHei"/>
              </a:rPr>
              <a:t>日期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32000" y="6578600"/>
            <a:ext cx="5080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</a:rPr>
              <a:t>2026.07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06000" y="6223000"/>
            <a:ext cx="2032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1300" b="1">
                <a:solidFill>
                  <a:srgbClr val="D6001C"/>
                </a:solidFill>
                <a:latin typeface="Microsoft YaHei"/>
                <a:ea typeface="Microsoft YaHei"/>
              </a:rPr>
              <a:t>Learning Agent · A3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400" y="127000"/>
            <a:ext cx="8890000" cy="30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01    </a:t>
            </a:r>
            <a:r>
              <a:rPr sz="1100">
                <a:solidFill>
                  <a:srgbClr val="CCCCCC"/>
                </a:solidFill>
                <a:latin typeface="Microsoft YaHei"/>
                <a:ea typeface="Microsoft YaHei"/>
              </a:rPr>
              <a:t>项目导入与需求对标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0462" y="561974"/>
            <a:ext cx="2381538" cy="70802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76000" y="6680200"/>
            <a:ext cx="838200" cy="15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800" b="0">
                <a:solidFill>
                  <a:srgbClr val="AAAAAA"/>
                </a:solidFill>
                <a:latin typeface="Microsoft YaHei"/>
                <a:ea typeface="Microsoft YaHei"/>
              </a:rPr>
              <a:t>2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36600"/>
            <a:ext cx="457200" cy="381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5444" y="863600"/>
            <a:ext cx="10922000" cy="533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3600" b="1">
                <a:solidFill>
                  <a:srgbClr val="0C24C4"/>
                </a:solidFill>
                <a:latin typeface="Microsoft YaHei"/>
                <a:ea typeface="Microsoft YaHei"/>
              </a:rPr>
              <a:t>目  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447800"/>
            <a:ext cx="10922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Microsoft YaHei"/>
                <a:ea typeface="Microsoft YaHei"/>
              </a:rPr>
              <a:t>CONTENTS  ·  21 页 / 5 章节  ·  导入 → 架构 → 智能体 → 技术 → 总结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000" y="2032000"/>
            <a:ext cx="11176000" cy="9144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08200"/>
            <a:ext cx="1016000" cy="762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4400" b="1">
                <a:solidFill>
                  <a:srgbClr val="0C24C4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2209800"/>
            <a:ext cx="254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032000" y="2133600"/>
            <a:ext cx="6604000" cy="381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项目导入与需求对标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32000" y="2540000"/>
            <a:ext cx="7112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/>
                <a:ea typeface="Microsoft YaHei"/>
              </a:rPr>
              <a:t>AI教育市场趋势 · 传统平台痛点 · 本项目差异化定位 · A3赛题对标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0" y="2336800"/>
            <a:ext cx="2032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1500" b="1">
                <a:solidFill>
                  <a:srgbClr val="0C24C4"/>
                </a:solidFill>
                <a:latin typeface="Microsoft YaHei"/>
                <a:ea typeface="Microsoft YaHei"/>
              </a:rPr>
              <a:t>P. 3 – 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000" y="3009900"/>
            <a:ext cx="1117600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086100"/>
            <a:ext cx="1016000" cy="762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4400" b="1">
                <a:solidFill>
                  <a:srgbClr val="0C24C4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0" y="3187700"/>
            <a:ext cx="254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32000" y="3111500"/>
            <a:ext cx="6604000" cy="381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系统架构与技术选型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32000" y="3517900"/>
            <a:ext cx="7112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/>
                <a:ea typeface="Microsoft YaHei"/>
              </a:rPr>
              <a:t>四层轻量化架构（表现层/网关/智能体/数据层）· 技术选型与分析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5000" y="3314700"/>
            <a:ext cx="2032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1500" b="1">
                <a:solidFill>
                  <a:srgbClr val="0C24C4"/>
                </a:solidFill>
                <a:latin typeface="Microsoft YaHei"/>
                <a:ea typeface="Microsoft YaHei"/>
              </a:rPr>
              <a:t>P. 6 – 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8000" y="3987800"/>
            <a:ext cx="11176000" cy="9144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4064000"/>
            <a:ext cx="1016000" cy="762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4400" b="1">
                <a:solidFill>
                  <a:srgbClr val="0C24C4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0" y="4165600"/>
            <a:ext cx="254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032000" y="4089400"/>
            <a:ext cx="6604000" cy="381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五大核心智能体设计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32000" y="4495800"/>
            <a:ext cx="7112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/>
                <a:ea typeface="Microsoft YaHei"/>
              </a:rPr>
              <a:t>画像构建 · 资源生成 · 路径规划 · 智能辅导 · 效果评估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4292600"/>
            <a:ext cx="2032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1500" b="1">
                <a:solidFill>
                  <a:srgbClr val="0C24C4"/>
                </a:solidFill>
                <a:latin typeface="Microsoft YaHei"/>
                <a:ea typeface="Microsoft YaHei"/>
              </a:rPr>
              <a:t>P. 9 – 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8000" y="4965700"/>
            <a:ext cx="1117600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5041900"/>
            <a:ext cx="1016000" cy="762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4400" b="1">
                <a:solidFill>
                  <a:srgbClr val="0C24C4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0" y="5143500"/>
            <a:ext cx="254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032000" y="5067300"/>
            <a:ext cx="6604000" cy="381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关键技术深挖与总结展望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32000" y="5473700"/>
            <a:ext cx="7112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/>
                <a:ea typeface="Microsoft YaHei"/>
              </a:rPr>
              <a:t>多智能体协同 · 流式交互 · 双向同步 · 系统评估 · 创新总结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0" y="5270500"/>
            <a:ext cx="2032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1500" b="1">
                <a:solidFill>
                  <a:srgbClr val="0C24C4"/>
                </a:solidFill>
                <a:latin typeface="Microsoft YaHei"/>
                <a:ea typeface="Microsoft YaHei"/>
              </a:rPr>
              <a:t>P. 15 –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52400" y="127000"/>
            <a:ext cx="8890000" cy="30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01    </a:t>
            </a:r>
            <a:r>
              <a:rPr sz="1100">
                <a:solidFill>
                  <a:srgbClr val="CCCCCC"/>
                </a:solidFill>
                <a:latin typeface="Microsoft YaHei"/>
                <a:ea typeface="Microsoft YaHei"/>
              </a:rPr>
              <a:t>项目导入与需求对标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176000" y="6680200"/>
            <a:ext cx="838200" cy="15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800" b="0">
                <a:solidFill>
                  <a:srgbClr val="AAAAAA"/>
                </a:solidFill>
                <a:latin typeface="Microsoft YaHei"/>
                <a:ea typeface="Microsoft YaHei"/>
              </a:rPr>
              <a:t>3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889000"/>
            <a:ext cx="5334000" cy="4826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0000" b="1">
                <a:solidFill>
                  <a:srgbClr val="304FA0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0" y="2032000"/>
            <a:ext cx="5588000" cy="762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项目导入与需求对标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0" y="2921000"/>
            <a:ext cx="508000" cy="38100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96000" y="3175000"/>
            <a:ext cx="5588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0">
                <a:solidFill>
                  <a:srgbClr val="8899BB"/>
                </a:solidFill>
                <a:latin typeface="Microsoft YaHei"/>
                <a:ea typeface="Microsoft YaHei"/>
              </a:rPr>
              <a:t>Introduction &amp; Requirements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0" y="3810000"/>
            <a:ext cx="5588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Microsoft YaHei"/>
                <a:ea typeface="Microsoft YaHei"/>
              </a:rPr>
              <a:t>·  AI教育市场趋势与差距分析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4216400"/>
            <a:ext cx="5588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Microsoft YaHei"/>
                <a:ea typeface="Microsoft YaHei"/>
              </a:rPr>
              <a:t>·  传统平台3大痛点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4622800"/>
            <a:ext cx="5588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Microsoft YaHei"/>
                <a:ea typeface="Microsoft YaHei"/>
              </a:rPr>
              <a:t>·  本项目4大差异化定位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5029200"/>
            <a:ext cx="5588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Microsoft YaHei"/>
                <a:ea typeface="Microsoft YaHei"/>
              </a:rPr>
              <a:t>·  A3赛题全覆盖对标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5638800"/>
            <a:ext cx="5588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8899BB"/>
                </a:solidFill>
                <a:latin typeface="Microsoft YaHei"/>
                <a:ea typeface="Microsoft YaHei"/>
              </a:rPr>
              <a:t>本章范围 · P. 3 - 5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400" y="127000"/>
            <a:ext cx="8890000" cy="30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01    </a:t>
            </a:r>
            <a:r>
              <a:rPr sz="1100">
                <a:solidFill>
                  <a:srgbClr val="CCCCCC"/>
                </a:solidFill>
                <a:latin typeface="Microsoft YaHei"/>
                <a:ea typeface="Microsoft YaHei"/>
              </a:rPr>
              <a:t>项目导入与需求对标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76000" y="6680200"/>
            <a:ext cx="838200" cy="15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800" b="0">
                <a:solidFill>
                  <a:srgbClr val="AAAAAA"/>
                </a:solidFill>
                <a:latin typeface="Microsoft YaHei"/>
                <a:ea typeface="Microsoft YaHei"/>
              </a:rPr>
              <a:t>4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85800"/>
            <a:ext cx="457200" cy="381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8000" y="812800"/>
            <a:ext cx="11176000" cy="533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3200" b="1">
                <a:solidFill>
                  <a:srgbClr val="0C24C4"/>
                </a:solidFill>
                <a:latin typeface="Microsoft YaHei"/>
                <a:ea typeface="Microsoft YaHei"/>
              </a:rPr>
              <a:t>项目背景与差异化定位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371600"/>
            <a:ext cx="11176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Microsoft YaHei"/>
                <a:ea typeface="Microsoft YaHei"/>
              </a:rPr>
              <a:t>AI 教育市场趋势  ·  传统平台痛点分析  ·  本项目竞争优势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1651000"/>
            <a:ext cx="3556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700" b="1">
                <a:solidFill>
                  <a:srgbClr val="0C24C4"/>
                </a:solidFill>
                <a:latin typeface="Microsoft YaHei"/>
                <a:ea typeface="Microsoft YaHei"/>
              </a:rPr>
              <a:t>AI 教育市场趋势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000" y="1981200"/>
            <a:ext cx="355600" cy="3175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08000" y="2209800"/>
            <a:ext cx="3556000" cy="8636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286000"/>
            <a:ext cx="1151164" cy="477054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600" b="1" dirty="0">
                <a:solidFill>
                  <a:srgbClr val="0C24C4"/>
                </a:solidFill>
                <a:latin typeface="Microsoft YaHei"/>
                <a:ea typeface="Microsoft YaHei"/>
              </a:rPr>
              <a:t>60%+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1000" y="2311400"/>
            <a:ext cx="2184400" cy="660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</a:rPr>
              <a:t>学生认为AI个性化辅导
优于传统课堂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000" y="3200400"/>
            <a:ext cx="3556000" cy="8636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276600"/>
            <a:ext cx="889000" cy="381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600" b="1">
                <a:solidFill>
                  <a:srgbClr val="0C24C4"/>
                </a:solidFill>
                <a:latin typeface="Microsoft YaHei"/>
                <a:ea typeface="Microsoft YaHei"/>
              </a:rPr>
              <a:t>3 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1000" y="3302000"/>
            <a:ext cx="2184400" cy="660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</a:rPr>
              <a:t>近2年自适应学习平台
用户增长近3倍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8000" y="4191000"/>
            <a:ext cx="3556000" cy="8636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4267200"/>
            <a:ext cx="889000" cy="381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600" b="1">
                <a:solidFill>
                  <a:srgbClr val="0C24C4"/>
                </a:solidFill>
                <a:latin typeface="Microsoft YaHei"/>
                <a:ea typeface="Microsoft YaHei"/>
              </a:rPr>
              <a:t>80%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1000" y="4292600"/>
            <a:ext cx="2184400" cy="660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</a:rPr>
              <a:t>高校预计2026年引入
AI教学辅助系统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000" y="5283200"/>
            <a:ext cx="3556000" cy="533400"/>
          </a:xfrm>
          <a:prstGeom prst="roundRect">
            <a:avLst>
              <a:gd name="adj" fmla="val 3000"/>
            </a:avLst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5000" y="5334000"/>
            <a:ext cx="3302000" cy="43180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AI+教育 2026 年进入
高速增长期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8000" y="1651000"/>
            <a:ext cx="3556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700" b="1">
                <a:solidFill>
                  <a:srgbClr val="D6001C"/>
                </a:solidFill>
                <a:latin typeface="Microsoft YaHei"/>
                <a:ea typeface="Microsoft YaHei"/>
              </a:rPr>
              <a:t>传统平台 3 大痛点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8000" y="2209800"/>
            <a:ext cx="3556000" cy="11684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9525">
            <a:solidFill>
              <a:srgbClr val="D600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95800" y="2311400"/>
            <a:ext cx="32004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D6001C"/>
                </a:solidFill>
                <a:latin typeface="Microsoft YaHei"/>
                <a:ea typeface="Microsoft YaHei"/>
              </a:rPr>
              <a:t>01  资源繁杂分散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5800" y="2692400"/>
            <a:ext cx="3200400" cy="609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题库/视频/文档分散各处，
学生花40%+时间查找资源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8000" y="3543300"/>
            <a:ext cx="3556000" cy="11684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9525">
            <a:solidFill>
              <a:srgbClr val="D600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95800" y="3644900"/>
            <a:ext cx="32004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D6001C"/>
                </a:solidFill>
                <a:latin typeface="Microsoft YaHei"/>
                <a:ea typeface="Microsoft YaHei"/>
              </a:rPr>
              <a:t>02  全班统一进度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5800" y="4025900"/>
            <a:ext cx="3200400" cy="609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无个性化调整机制，
70%+学生进度不匹配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8000" y="4876800"/>
            <a:ext cx="3556000" cy="11684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9525">
            <a:solidFill>
              <a:srgbClr val="D600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495800" y="4978400"/>
            <a:ext cx="32004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D6001C"/>
                </a:solidFill>
                <a:latin typeface="Microsoft YaHei"/>
                <a:ea typeface="Microsoft YaHei"/>
              </a:rPr>
              <a:t>03  反馈严重滞后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5800" y="5359400"/>
            <a:ext cx="3200400" cy="609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错题需等老师批改讲评，
延迟使效率降低35%+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1651000"/>
            <a:ext cx="3556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700" b="1">
                <a:solidFill>
                  <a:srgbClr val="0C24C4"/>
                </a:solidFill>
                <a:latin typeface="Microsoft YaHei"/>
                <a:ea typeface="Microsoft YaHei"/>
              </a:rPr>
              <a:t>本项目 4 大差异化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28000" y="2209800"/>
            <a:ext cx="3556000" cy="889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128000" y="2209800"/>
            <a:ext cx="50800" cy="889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305800" y="2286000"/>
            <a:ext cx="3556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800" b="1">
                <a:solidFill>
                  <a:srgbClr val="0C24C4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2286000"/>
            <a:ext cx="2768600" cy="736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多智能体协同：5类智能体分工协作
事件总线完全解耦通信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28000" y="3225800"/>
            <a:ext cx="3556000" cy="889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128000" y="3225800"/>
            <a:ext cx="50800" cy="889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3302000"/>
            <a:ext cx="3556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800" b="1">
                <a:solidFill>
                  <a:srgbClr val="0C24C4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3302000"/>
            <a:ext cx="2768600" cy="736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6维动态画像：对话式构建+随学随新
画像注入所有下游智能体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28000" y="4241800"/>
            <a:ext cx="3556000" cy="889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128000" y="4241800"/>
            <a:ext cx="50800" cy="889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05800" y="4318000"/>
            <a:ext cx="3556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800" b="1">
                <a:solidFill>
                  <a:srgbClr val="0C24C4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4318000"/>
            <a:ext cx="2768600" cy="736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结构化路径：节点绑定题库/模块ID
80%阈值自动标记+双向同步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28000" y="5257800"/>
            <a:ext cx="3556000" cy="889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128000" y="5257800"/>
            <a:ext cx="50800" cy="889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305800" y="5334000"/>
            <a:ext cx="3556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800" b="1">
                <a:solidFill>
                  <a:srgbClr val="0C24C4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5334000"/>
            <a:ext cx="2768600" cy="736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流式思考可视化：SSE打字机效果
&lt;thinking&gt;块折叠+AbortSignal中断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273800"/>
            <a:ext cx="12192000" cy="584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8000" y="6427400"/>
            <a:ext cx="1117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从"统一供给"到"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千人千面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"：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打造每个学生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专属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的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学习智能体</a:t>
            </a:r>
            <a:endParaRPr sz="1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pic>
        <p:nvPicPr>
          <p:cNvPr id="53" name="Picture 3" descr="图片1.jpg">
            <a:extLst>
              <a:ext uri="{FF2B5EF4-FFF2-40B4-BE49-F238E27FC236}">
                <a16:creationId xmlns:a16="http://schemas.microsoft.com/office/drawing/2014/main" id="{E939CB89-E427-6A77-7339-FCB2F3BF8E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0462" y="561974"/>
            <a:ext cx="2381538" cy="7080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400" y="127000"/>
            <a:ext cx="8890000" cy="30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01    </a:t>
            </a:r>
            <a:r>
              <a:rPr sz="1100">
                <a:solidFill>
                  <a:srgbClr val="CCCCCC"/>
                </a:solidFill>
                <a:latin typeface="Microsoft YaHei"/>
                <a:ea typeface="Microsoft YaHei"/>
              </a:rPr>
              <a:t>项目导入与需求对标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76000" y="6680200"/>
            <a:ext cx="838200" cy="15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800" b="0">
                <a:solidFill>
                  <a:srgbClr val="AAAAAA"/>
                </a:solidFill>
                <a:latin typeface="Microsoft YaHei"/>
                <a:ea typeface="Microsoft YaHei"/>
              </a:rPr>
              <a:t>5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85800"/>
            <a:ext cx="457200" cy="381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8000" y="812800"/>
            <a:ext cx="11176000" cy="533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3200" b="1">
                <a:solidFill>
                  <a:srgbClr val="0C24C4"/>
                </a:solidFill>
                <a:latin typeface="Microsoft YaHei"/>
                <a:ea typeface="Microsoft YaHei"/>
              </a:rPr>
              <a:t>A3 赛题需求精准对标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371600"/>
            <a:ext cx="11176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Microsoft YaHei"/>
                <a:ea typeface="Microsoft YaHei"/>
              </a:rPr>
              <a:t>5 项功能需求 100% 覆盖  ·  4 项非功能需求工程化达标  ·  多项超额完成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1651000"/>
            <a:ext cx="6604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600" b="1">
                <a:solidFill>
                  <a:srgbClr val="0C24C4"/>
                </a:solidFill>
                <a:latin typeface="Microsoft YaHei"/>
                <a:ea typeface="Microsoft YaHei"/>
              </a:rPr>
              <a:t>5 项功能需求 — 全部超额完成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000" y="2082800"/>
            <a:ext cx="6604000" cy="6223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8000" y="2082800"/>
            <a:ext cx="50800" cy="6223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133600"/>
            <a:ext cx="1524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01  画像构建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413000"/>
            <a:ext cx="62484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6维对话式动态画像，做题反馈回流，注入下游智能体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000" y="2819400"/>
            <a:ext cx="6604000" cy="6223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8000" y="2819400"/>
            <a:ext cx="50800" cy="6223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2870200"/>
            <a:ext cx="1524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02  资源生成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149600"/>
            <a:ext cx="62484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6类资源多智能体流水线协作，SSE实时状态回传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8000" y="3556000"/>
            <a:ext cx="6604000" cy="6223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8000" y="3556000"/>
            <a:ext cx="50800" cy="6223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3606800"/>
            <a:ext cx="1524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03  路径规划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886200"/>
            <a:ext cx="62484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AI自由生成+12预定义路径，节点绑定题库/模块ID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8000" y="4292600"/>
            <a:ext cx="6604000" cy="6223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08000" y="4292600"/>
            <a:ext cx="50800" cy="6223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4343400"/>
            <a:ext cx="1524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04  智能辅导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622800"/>
            <a:ext cx="62484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4种模式+追问链+画像注入+缓存去重+流式中断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8000" y="5029200"/>
            <a:ext cx="6604000" cy="6223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08000" y="5029200"/>
            <a:ext cx="50800" cy="6223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5080000"/>
            <a:ext cx="1524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05  学习评估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359400"/>
            <a:ext cx="62484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真实数据驱动+6维雷达+进度追踪+智能调整建议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8000" y="5816600"/>
            <a:ext cx="6604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D6001C"/>
                </a:solidFill>
                <a:latin typeface="Microsoft YaHei"/>
                <a:ea typeface="Microsoft YaHei"/>
              </a:rPr>
              <a:t>4 项非功能需求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197600"/>
            <a:ext cx="1651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D6001C"/>
                </a:solidFill>
                <a:latin typeface="Microsoft YaHei"/>
                <a:ea typeface="Microsoft YaHei"/>
              </a:rPr>
              <a:t>流式输出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3000" y="6197600"/>
            <a:ext cx="4521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SSE打字机效果，首字延迟&lt;2s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527800"/>
            <a:ext cx="1651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D6001C"/>
                </a:solidFill>
                <a:latin typeface="Microsoft YaHei"/>
                <a:ea typeface="Microsoft YaHei"/>
              </a:rPr>
              <a:t>防幻觉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13000" y="6527800"/>
            <a:ext cx="4521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576题全预写，AI只判分不生成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858000"/>
            <a:ext cx="1651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D6001C"/>
                </a:solidFill>
                <a:latin typeface="Microsoft YaHei"/>
                <a:ea typeface="Microsoft YaHei"/>
              </a:rPr>
              <a:t>响应追踪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13000" y="6858000"/>
            <a:ext cx="4521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3次重试+3min超时+AbortSignal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7188200"/>
            <a:ext cx="1651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D6001C"/>
                </a:solidFill>
                <a:latin typeface="Microsoft YaHei"/>
                <a:ea typeface="Microsoft YaHei"/>
              </a:rPr>
              <a:t>多智能体协作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13000" y="7188200"/>
            <a:ext cx="4521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事件总线解耦，6Worker并发&lt;8s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66000" y="1651000"/>
            <a:ext cx="4318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600" b="1">
                <a:solidFill>
                  <a:srgbClr val="0C24C4"/>
                </a:solidFill>
                <a:latin typeface="Microsoft YaHei"/>
                <a:ea typeface="Microsoft YaHei"/>
              </a:rPr>
              <a:t>4 条核心设计原则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66000" y="2082800"/>
            <a:ext cx="4318000" cy="787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366000" y="2082800"/>
            <a:ext cx="4318000" cy="50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18400" y="2235200"/>
            <a:ext cx="40132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0C24C4"/>
                </a:solidFill>
                <a:latin typeface="Microsoft YaHei"/>
                <a:ea typeface="Microsoft YaHei"/>
              </a:rPr>
              <a:t>个性化优先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18400" y="2540000"/>
            <a:ext cx="4013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Microsoft YaHei"/>
                <a:ea typeface="Microsoft YaHei"/>
              </a:rPr>
              <a:t>画像驱动所有下游智能体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66000" y="2997200"/>
            <a:ext cx="4318000" cy="787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366000" y="2997200"/>
            <a:ext cx="4318000" cy="50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518400" y="3149600"/>
            <a:ext cx="40132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0C24C4"/>
                </a:solidFill>
                <a:latin typeface="Microsoft YaHei"/>
                <a:ea typeface="Microsoft YaHei"/>
              </a:rPr>
              <a:t>多智能体协作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18400" y="3454400"/>
            <a:ext cx="4013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Microsoft YaHei"/>
                <a:ea typeface="Microsoft YaHei"/>
              </a:rPr>
              <a:t>Planner拆任务→Worker并行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66000" y="3911600"/>
            <a:ext cx="4318000" cy="787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7366000" y="3911600"/>
            <a:ext cx="4318000" cy="50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518400" y="4064000"/>
            <a:ext cx="40132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0C24C4"/>
                </a:solidFill>
                <a:latin typeface="Microsoft YaHei"/>
                <a:ea typeface="Microsoft YaHei"/>
              </a:rPr>
              <a:t>流式交互体验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18400" y="4368800"/>
            <a:ext cx="4013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Microsoft YaHei"/>
                <a:ea typeface="Microsoft YaHei"/>
              </a:rPr>
              <a:t>打字机+&lt;thinking&gt;折叠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66000" y="4826000"/>
            <a:ext cx="4318000" cy="787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7366000" y="4826000"/>
            <a:ext cx="4318000" cy="50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518400" y="4978400"/>
            <a:ext cx="40132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0C24C4"/>
                </a:solidFill>
                <a:latin typeface="Microsoft YaHei"/>
                <a:ea typeface="Microsoft YaHei"/>
              </a:rPr>
              <a:t>数据闭环驱动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18400" y="5283200"/>
            <a:ext cx="4013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Microsoft YaHei"/>
                <a:ea typeface="Microsoft YaHei"/>
              </a:rPr>
              <a:t>做题→画像→推荐→评估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6000" y="5867400"/>
            <a:ext cx="4318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0C24C4"/>
                </a:solidFill>
                <a:latin typeface="Microsoft YaHei"/>
                <a:ea typeface="Microsoft YaHei"/>
              </a:rPr>
              <a:t>核心技术指标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66000" y="6223000"/>
            <a:ext cx="990600" cy="6604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9525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366000" y="6248400"/>
            <a:ext cx="990600" cy="355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2200" b="1">
                <a:solidFill>
                  <a:srgbClr val="0C24C4"/>
                </a:solidFill>
                <a:latin typeface="Microsoft YaHei"/>
                <a:ea typeface="Microsoft YaHei"/>
              </a:rPr>
              <a:t>576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66000" y="6604000"/>
            <a:ext cx="9906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题库总题数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32800" y="6223000"/>
            <a:ext cx="990600" cy="6604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9525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432800" y="6248400"/>
            <a:ext cx="990600" cy="355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2200" b="1">
                <a:solidFill>
                  <a:srgbClr val="0C24C4"/>
                </a:solidFill>
                <a:latin typeface="Microsoft YaHei"/>
                <a:ea typeface="Microsoft YaHei"/>
              </a:rPr>
              <a:t>92%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32800" y="6604000"/>
            <a:ext cx="9906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AI判分一致率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499600" y="6223000"/>
            <a:ext cx="990600" cy="6604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9525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499600" y="6248400"/>
            <a:ext cx="990600" cy="355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2200" b="1">
                <a:solidFill>
                  <a:srgbClr val="0C24C4"/>
                </a:solidFill>
                <a:latin typeface="Microsoft YaHei"/>
                <a:ea typeface="Microsoft YaHei"/>
              </a:rPr>
              <a:t>&lt;2s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99600" y="6604000"/>
            <a:ext cx="9906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流式首字延迟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566400" y="6223000"/>
            <a:ext cx="990600" cy="6604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9525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0566400" y="6248400"/>
            <a:ext cx="990600" cy="355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2200" b="1">
                <a:solidFill>
                  <a:srgbClr val="0C24C4"/>
                </a:solidFill>
                <a:latin typeface="Microsoft YaHei"/>
                <a:ea typeface="Microsoft YaHei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66400" y="6604000"/>
            <a:ext cx="9906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严重缺陷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6273800"/>
            <a:ext cx="12192000" cy="584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08000" y="6427400"/>
            <a:ext cx="1117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赛题完成度：功能需求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 5/5   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非功能需求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 4/4   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综合完成度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sz="1800" b="1" dirty="0">
                <a:solidFill>
                  <a:srgbClr val="D6001C"/>
                </a:solidFill>
                <a:latin typeface="Microsoft YaHei"/>
                <a:ea typeface="Microsoft YaHei"/>
              </a:rPr>
              <a:t>100%+</a:t>
            </a:r>
          </a:p>
        </p:txBody>
      </p:sp>
      <p:pic>
        <p:nvPicPr>
          <p:cNvPr id="73" name="Picture 3" descr="图片1.jpg">
            <a:extLst>
              <a:ext uri="{FF2B5EF4-FFF2-40B4-BE49-F238E27FC236}">
                <a16:creationId xmlns:a16="http://schemas.microsoft.com/office/drawing/2014/main" id="{F8E15B17-33EC-2286-7878-8AB142BAD7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0462" y="561974"/>
            <a:ext cx="2381538" cy="7080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52400" y="127000"/>
            <a:ext cx="8890000" cy="30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02    </a:t>
            </a:r>
            <a:r>
              <a:rPr sz="1100">
                <a:solidFill>
                  <a:srgbClr val="CCCCCC"/>
                </a:solidFill>
                <a:latin typeface="Microsoft YaHei"/>
                <a:ea typeface="Microsoft YaHei"/>
              </a:rPr>
              <a:t>系统架构与技术选型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176000" y="6680200"/>
            <a:ext cx="838200" cy="15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800" b="0">
                <a:solidFill>
                  <a:srgbClr val="AAAAAA"/>
                </a:solidFill>
                <a:latin typeface="Microsoft YaHei"/>
                <a:ea typeface="Microsoft YaHei"/>
              </a:rPr>
              <a:t>6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889000"/>
            <a:ext cx="5334000" cy="4826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0000" b="1">
                <a:solidFill>
                  <a:srgbClr val="304FA0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0" y="2032000"/>
            <a:ext cx="5588000" cy="762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系统架构与技术选型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0" y="2921000"/>
            <a:ext cx="508000" cy="38100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96000" y="3175000"/>
            <a:ext cx="5588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0">
                <a:solidFill>
                  <a:srgbClr val="8899BB"/>
                </a:solidFill>
                <a:latin typeface="Microsoft YaHei"/>
                <a:ea typeface="Microsoft YaHei"/>
              </a:rPr>
              <a:t>System Architecture &amp;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0" y="3810000"/>
            <a:ext cx="5588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Microsoft YaHei"/>
                <a:ea typeface="Microsoft YaHei"/>
              </a:rPr>
              <a:t>·  四层轻量化架构设计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4216400"/>
            <a:ext cx="5588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Microsoft YaHei"/>
                <a:ea typeface="Microsoft YaHei"/>
              </a:rPr>
              <a:t>·  前端+AI+可视化技术选型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4622800"/>
            <a:ext cx="5588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Microsoft YaHei"/>
                <a:ea typeface="Microsoft YaHei"/>
              </a:rPr>
              <a:t>·  零外部依赖一行启动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5232400"/>
            <a:ext cx="5588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8899BB"/>
                </a:solidFill>
                <a:latin typeface="Microsoft YaHei"/>
                <a:ea typeface="Microsoft YaHei"/>
              </a:rPr>
              <a:t>本章范围 · P. 6 - 8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400" y="127000"/>
            <a:ext cx="8890000" cy="30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02    </a:t>
            </a:r>
            <a:r>
              <a:rPr sz="1100">
                <a:solidFill>
                  <a:srgbClr val="CCCCCC"/>
                </a:solidFill>
                <a:latin typeface="Microsoft YaHei"/>
                <a:ea typeface="Microsoft YaHei"/>
              </a:rPr>
              <a:t>系统架构与技术选型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76000" y="6680200"/>
            <a:ext cx="838200" cy="15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800" b="0">
                <a:solidFill>
                  <a:srgbClr val="AAAAAA"/>
                </a:solidFill>
                <a:latin typeface="Microsoft YaHei"/>
                <a:ea typeface="Microsoft YaHei"/>
              </a:rPr>
              <a:t>7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85800"/>
            <a:ext cx="457200" cy="381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8000" y="812800"/>
            <a:ext cx="11176000" cy="533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3200" b="1">
                <a:solidFill>
                  <a:srgbClr val="0C24C4"/>
                </a:solidFill>
                <a:latin typeface="Microsoft YaHei"/>
                <a:ea typeface="Microsoft YaHei"/>
              </a:rPr>
              <a:t>四层轻量化总体架构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371600"/>
            <a:ext cx="11176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Microsoft YaHei"/>
                <a:ea typeface="Microsoft YaHei"/>
              </a:rPr>
              <a:t>表现层 / API网关 / 多智能体框架 / 数据层  ·  零外部依赖，一行命令启动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1651000"/>
            <a:ext cx="50800" cy="9906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60400" y="1651000"/>
            <a:ext cx="11049000" cy="9906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3600" y="1727200"/>
            <a:ext cx="6350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800" b="1">
                <a:solidFill>
                  <a:srgbClr val="0C24C4"/>
                </a:solidFill>
                <a:latin typeface="Microsoft YaHei"/>
                <a:ea typeface="Microsoft YaHei"/>
              </a:rPr>
              <a:t>L1 表现层 (Presentation)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00" y="2032000"/>
            <a:ext cx="7620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</a:rPr>
              <a:t>React 19 + TypeScript + Vite 5 + Ant Design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2311400"/>
            <a:ext cx="7620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Microsoft YaHei"/>
                <a:ea typeface="Microsoft YaHei"/>
              </a:rPr>
              <a:t>手动路由切换（7页面）· PageCacheContext 状态缓存 · MarkdownRenderer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41000" y="1752600"/>
            <a:ext cx="889000" cy="787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3200" b="1">
                <a:solidFill>
                  <a:srgbClr val="0C24C4"/>
                </a:solidFill>
                <a:latin typeface="Microsoft YaHei"/>
                <a:ea typeface="Microsoft YaHei"/>
              </a:rPr>
              <a:t>L1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23000" y="2654300"/>
            <a:ext cx="0" cy="101600"/>
          </a:xfrm>
          <a:prstGeom prst="line">
            <a:avLst/>
          </a:prstGeom>
          <a:ln w="19050">
            <a:solidFill>
              <a:srgbClr val="0C24C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08000" y="2768600"/>
            <a:ext cx="50800" cy="990600"/>
          </a:xfrm>
          <a:prstGeom prst="rect">
            <a:avLst/>
          </a:prstGeom>
          <a:solidFill>
            <a:srgbClr val="486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60400" y="2768600"/>
            <a:ext cx="11049000" cy="9906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3600" y="2844800"/>
            <a:ext cx="6350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800" b="1">
                <a:solidFill>
                  <a:srgbClr val="4868B0"/>
                </a:solidFill>
                <a:latin typeface="Microsoft YaHei"/>
                <a:ea typeface="Microsoft YaHei"/>
              </a:rPr>
              <a:t>L2 API 网关 (Gateway)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600" y="3149600"/>
            <a:ext cx="7620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</a:rPr>
              <a:t>Vite Dev Proxy → api.minimaxi.com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3600" y="3429000"/>
            <a:ext cx="7620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Microsoft YaHei"/>
                <a:ea typeface="Microsoft YaHei"/>
              </a:rPr>
              <a:t>Anthropic 协议兼容 · SSE 流式传输 · axios 重试 · AbortSignal 取消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1000" y="2870200"/>
            <a:ext cx="889000" cy="787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3200" b="1">
                <a:solidFill>
                  <a:srgbClr val="4868B0"/>
                </a:solidFill>
                <a:latin typeface="Microsoft YaHei"/>
                <a:ea typeface="Microsoft YaHei"/>
              </a:rPr>
              <a:t>L2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223000" y="3771900"/>
            <a:ext cx="0" cy="101600"/>
          </a:xfrm>
          <a:prstGeom prst="line">
            <a:avLst/>
          </a:prstGeom>
          <a:ln w="19050">
            <a:solidFill>
              <a:srgbClr val="4868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508000" y="3886200"/>
            <a:ext cx="50800" cy="9906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60400" y="3886200"/>
            <a:ext cx="11049000" cy="9906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3600" y="3962400"/>
            <a:ext cx="6350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800" b="1">
                <a:solidFill>
                  <a:srgbClr val="0C24C4"/>
                </a:solidFill>
                <a:latin typeface="Microsoft YaHei"/>
                <a:ea typeface="Microsoft YaHei"/>
              </a:rPr>
              <a:t>L3 多智能体框架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600" y="4267200"/>
            <a:ext cx="7620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</a:rPr>
              <a:t>MultiAgentScheduler + EventEmitter 事件总线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600" y="4546600"/>
            <a:ext cx="7620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Microsoft YaHei"/>
                <a:ea typeface="Microsoft YaHei"/>
              </a:rPr>
              <a:t>registerAgent() 注册 · runPipeline() 流水线 · dispatch() 单智能体执行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41000" y="3987800"/>
            <a:ext cx="889000" cy="787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3200" b="1">
                <a:solidFill>
                  <a:srgbClr val="0C24C4"/>
                </a:solidFill>
                <a:latin typeface="Microsoft YaHei"/>
                <a:ea typeface="Microsoft YaHei"/>
              </a:rPr>
              <a:t>L3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223000" y="4889500"/>
            <a:ext cx="0" cy="101600"/>
          </a:xfrm>
          <a:prstGeom prst="line">
            <a:avLst/>
          </a:prstGeom>
          <a:ln w="19050">
            <a:solidFill>
              <a:srgbClr val="0C24C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508000" y="5003800"/>
            <a:ext cx="50800" cy="990600"/>
          </a:xfrm>
          <a:prstGeom prst="rect">
            <a:avLst/>
          </a:prstGeom>
          <a:solidFill>
            <a:srgbClr val="486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60400" y="5003800"/>
            <a:ext cx="11049000" cy="9906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3600" y="5080000"/>
            <a:ext cx="6350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800" b="1">
                <a:solidFill>
                  <a:srgbClr val="4868B0"/>
                </a:solidFill>
                <a:latin typeface="Microsoft YaHei"/>
                <a:ea typeface="Microsoft YaHei"/>
              </a:rPr>
              <a:t>L4 数据层 (Data)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3600" y="5384800"/>
            <a:ext cx="7620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</a:rPr>
              <a:t>localStorage 持久化 + 题库 JSON（12库576题）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3600" y="5664200"/>
            <a:ext cx="7620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Microsoft YaHei"/>
                <a:ea typeface="Microsoft YaHei"/>
              </a:rPr>
              <a:t>studentProfile · practiceState · activeStructuredPath · QAHistory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41000" y="5105400"/>
            <a:ext cx="889000" cy="787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3200" b="1">
                <a:solidFill>
                  <a:srgbClr val="4868B0"/>
                </a:solidFill>
                <a:latin typeface="Microsoft YaHei"/>
                <a:ea typeface="Microsoft YaHei"/>
              </a:rPr>
              <a:t>L4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273800"/>
            <a:ext cx="12192000" cy="584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8000" y="6427400"/>
            <a:ext cx="1117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架构哲学：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零外部依赖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 + 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事件总线解耦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 + 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全栈</a:t>
            </a:r>
            <a:r>
              <a:rPr sz="1800" b="1" dirty="0">
                <a:solidFill>
                  <a:srgbClr val="D6001C"/>
                </a:solidFill>
                <a:latin typeface="Microsoft YaHei"/>
                <a:ea typeface="Microsoft YaHei"/>
              </a:rPr>
              <a:t> TypeScript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 = 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生产级可演示系统</a:t>
            </a:r>
            <a:endParaRPr sz="1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pic>
        <p:nvPicPr>
          <p:cNvPr id="40" name="Picture 3" descr="图片1.jpg">
            <a:extLst>
              <a:ext uri="{FF2B5EF4-FFF2-40B4-BE49-F238E27FC236}">
                <a16:creationId xmlns:a16="http://schemas.microsoft.com/office/drawing/2014/main" id="{7F4F924B-066B-726E-CEE2-F796B8FE29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0462" y="561974"/>
            <a:ext cx="2381538" cy="7080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400" y="127000"/>
            <a:ext cx="8890000" cy="30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02    </a:t>
            </a:r>
            <a:r>
              <a:rPr sz="1100">
                <a:solidFill>
                  <a:srgbClr val="CCCCCC"/>
                </a:solidFill>
                <a:latin typeface="Microsoft YaHei"/>
                <a:ea typeface="Microsoft YaHei"/>
              </a:rPr>
              <a:t>系统架构与技术选型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76000" y="6680200"/>
            <a:ext cx="838200" cy="15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800" b="0">
                <a:solidFill>
                  <a:srgbClr val="AAAAAA"/>
                </a:solidFill>
                <a:latin typeface="Microsoft YaHei"/>
                <a:ea typeface="Microsoft YaHei"/>
              </a:rPr>
              <a:t>8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85800"/>
            <a:ext cx="457200" cy="381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8000" y="812800"/>
            <a:ext cx="11176000" cy="533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3200" b="1">
                <a:solidFill>
                  <a:srgbClr val="0C24C4"/>
                </a:solidFill>
                <a:latin typeface="Microsoft YaHei"/>
                <a:ea typeface="Microsoft YaHei"/>
              </a:rPr>
              <a:t>前沿与稳健并重的技术选型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371600"/>
            <a:ext cx="11176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Microsoft YaHei"/>
                <a:ea typeface="Microsoft YaHei"/>
              </a:rPr>
              <a:t>React 19 + SSE 流式 + Recharts 三大技术支撑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000" y="1651000"/>
            <a:ext cx="3556000" cy="457200"/>
          </a:xfrm>
          <a:prstGeom prst="roundRect">
            <a:avLst>
              <a:gd name="adj" fmla="val 3000"/>
            </a:avLst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8000" y="1651000"/>
            <a:ext cx="3556000" cy="45720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前端框架与工程化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8000" y="2260600"/>
            <a:ext cx="3556000" cy="635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63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8000" y="2260600"/>
            <a:ext cx="38100" cy="635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0400" y="2311400"/>
            <a:ext cx="3251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React 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" y="2616200"/>
            <a:ext cx="32512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最新稳定版·Concurrent·批处理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000" y="2997200"/>
            <a:ext cx="3556000" cy="635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63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8000" y="2997200"/>
            <a:ext cx="38100" cy="635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0400" y="3048000"/>
            <a:ext cx="3251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TypeScript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400" y="3352800"/>
            <a:ext cx="32512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类型安全·IDE智能提示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8000" y="3733800"/>
            <a:ext cx="3556000" cy="635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63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8000" y="3733800"/>
            <a:ext cx="38100" cy="635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0400" y="3784600"/>
            <a:ext cx="3251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Vite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400" y="4089400"/>
            <a:ext cx="32512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极速HMR·冷启动&lt;1s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8000" y="4470400"/>
            <a:ext cx="3556000" cy="635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63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08000" y="4470400"/>
            <a:ext cx="38100" cy="635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0400" y="4521200"/>
            <a:ext cx="3251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Ant Design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400" y="4826000"/>
            <a:ext cx="32512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企业级UI·Statistic/Progress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8000" y="5207000"/>
            <a:ext cx="3556000" cy="635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63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08000" y="5207000"/>
            <a:ext cx="38100" cy="635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0400" y="5257800"/>
            <a:ext cx="3251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PageCache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" y="5562600"/>
            <a:ext cx="32512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手动路由·useRef状态缓存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18000" y="1651000"/>
            <a:ext cx="3556000" cy="457200"/>
          </a:xfrm>
          <a:prstGeom prst="roundRect">
            <a:avLst>
              <a:gd name="adj" fmla="val 3000"/>
            </a:avLst>
          </a:prstGeom>
          <a:solidFill>
            <a:srgbClr val="486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318000" y="1651000"/>
            <a:ext cx="3556000" cy="45720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AI 交互与协议层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8000" y="2260600"/>
            <a:ext cx="3556000" cy="635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6350">
            <a:solidFill>
              <a:srgbClr val="486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318000" y="2260600"/>
            <a:ext cx="38100" cy="635000"/>
          </a:xfrm>
          <a:prstGeom prst="rect">
            <a:avLst/>
          </a:prstGeom>
          <a:solidFill>
            <a:srgbClr val="486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470400" y="2311400"/>
            <a:ext cx="3251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大模型 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70400" y="2616200"/>
            <a:ext cx="32512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兼容Anthropic协议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18000" y="2997200"/>
            <a:ext cx="3556000" cy="635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6350">
            <a:solidFill>
              <a:srgbClr val="486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318000" y="2997200"/>
            <a:ext cx="38100" cy="635000"/>
          </a:xfrm>
          <a:prstGeom prst="rect">
            <a:avLst/>
          </a:prstGeom>
          <a:solidFill>
            <a:srgbClr val="486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470400" y="3048000"/>
            <a:ext cx="3251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SSE 流式传输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70400" y="3352800"/>
            <a:ext cx="32512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ReadableStream打字机效果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18000" y="3733800"/>
            <a:ext cx="3556000" cy="635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6350">
            <a:solidFill>
              <a:srgbClr val="486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318000" y="3733800"/>
            <a:ext cx="38100" cy="635000"/>
          </a:xfrm>
          <a:prstGeom prst="rect">
            <a:avLst/>
          </a:prstGeom>
          <a:solidFill>
            <a:srgbClr val="486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470400" y="3784600"/>
            <a:ext cx="3251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AbortSignal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70400" y="4089400"/>
            <a:ext cx="32512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中途取消请求+状态恢复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18000" y="4470400"/>
            <a:ext cx="3556000" cy="635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6350">
            <a:solidFill>
              <a:srgbClr val="486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318000" y="4470400"/>
            <a:ext cx="38100" cy="635000"/>
          </a:xfrm>
          <a:prstGeom prst="rect">
            <a:avLst/>
          </a:prstGeom>
          <a:solidFill>
            <a:srgbClr val="486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470400" y="4521200"/>
            <a:ext cx="3251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Prompt 工程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70400" y="4826000"/>
            <a:ext cx="32512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5类系统prompt·画像注入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18000" y="5207000"/>
            <a:ext cx="3556000" cy="635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6350">
            <a:solidFill>
              <a:srgbClr val="486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318000" y="5207000"/>
            <a:ext cx="38100" cy="635000"/>
          </a:xfrm>
          <a:prstGeom prst="rect">
            <a:avLst/>
          </a:prstGeom>
          <a:solidFill>
            <a:srgbClr val="486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470400" y="5257800"/>
            <a:ext cx="3251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容错机制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0400" y="5562600"/>
            <a:ext cx="32512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3次重试·3min超时·指数退避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28000" y="1651000"/>
            <a:ext cx="3556000" cy="457200"/>
          </a:xfrm>
          <a:prstGeom prst="roundRect">
            <a:avLst>
              <a:gd name="adj" fmla="val 3000"/>
            </a:avLst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128000" y="1651000"/>
            <a:ext cx="3556000" cy="457200"/>
          </a:xfrm>
          <a:prstGeom prst="rect">
            <a:avLst/>
          </a:prstGeom>
          <a:noFill/>
        </p:spPr>
        <p:txBody>
          <a:bodyPr wrap="square" lIns="50800" tIns="38100" rIns="50800" bIns="3810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数据可视化与存储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28000" y="2260600"/>
            <a:ext cx="3556000" cy="635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63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8128000" y="2260600"/>
            <a:ext cx="38100" cy="635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280400" y="2311400"/>
            <a:ext cx="3251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Recharts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80400" y="2616200"/>
            <a:ext cx="32512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React原生·RadarChart雷达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28000" y="2997200"/>
            <a:ext cx="3556000" cy="635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63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8128000" y="2997200"/>
            <a:ext cx="38100" cy="635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280400" y="3048000"/>
            <a:ext cx="3251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雷达图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80400" y="3352800"/>
            <a:ext cx="32512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6维度能力评估可视化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28000" y="3733800"/>
            <a:ext cx="3556000" cy="635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63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8128000" y="3733800"/>
            <a:ext cx="38100" cy="635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280400" y="3784600"/>
            <a:ext cx="3251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统计卡片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80400" y="4089400"/>
            <a:ext cx="32512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Antd Statistic数据展示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128000" y="4470400"/>
            <a:ext cx="3556000" cy="635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63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8128000" y="4470400"/>
            <a:ext cx="38100" cy="635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280400" y="4521200"/>
            <a:ext cx="3251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时间线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80400" y="4826000"/>
            <a:ext cx="32512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Antd Timeline智能建议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128000" y="5207000"/>
            <a:ext cx="3556000" cy="635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63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8128000" y="5207000"/>
            <a:ext cx="38100" cy="635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280400" y="5257800"/>
            <a:ext cx="32512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localStorage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280400" y="5562600"/>
            <a:ext cx="32512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零数据库·画像/进度/路径</a:t>
            </a:r>
          </a:p>
        </p:txBody>
      </p:sp>
      <p:sp>
        <p:nvSpPr>
          <p:cNvPr id="76" name="Rectangle 75"/>
          <p:cNvSpPr/>
          <p:nvPr/>
        </p:nvSpPr>
        <p:spPr>
          <a:xfrm>
            <a:off x="0" y="6273800"/>
            <a:ext cx="12192000" cy="584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08000" y="6427400"/>
            <a:ext cx="1117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选型哲学：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主流成熟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保稳定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 + 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前沿技术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提体验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 + 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轻量存储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降依赖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 = 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生产级可演示系统</a:t>
            </a:r>
            <a:endParaRPr sz="1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pic>
        <p:nvPicPr>
          <p:cNvPr id="79" name="Picture 3" descr="图片1.jpg">
            <a:extLst>
              <a:ext uri="{FF2B5EF4-FFF2-40B4-BE49-F238E27FC236}">
                <a16:creationId xmlns:a16="http://schemas.microsoft.com/office/drawing/2014/main" id="{5CA27242-9F13-5F57-301D-9CCE6F990A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0462" y="561974"/>
            <a:ext cx="2381538" cy="7080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52400" y="127000"/>
            <a:ext cx="8890000" cy="30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03    </a:t>
            </a:r>
            <a:r>
              <a:rPr sz="1100">
                <a:solidFill>
                  <a:srgbClr val="CCCCCC"/>
                </a:solidFill>
                <a:latin typeface="Microsoft YaHei"/>
                <a:ea typeface="Microsoft YaHei"/>
              </a:rPr>
              <a:t>五大核心智能体设计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176000" y="6680200"/>
            <a:ext cx="838200" cy="15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800" b="0">
                <a:solidFill>
                  <a:srgbClr val="AAAAAA"/>
                </a:solidFill>
                <a:latin typeface="Microsoft YaHei"/>
                <a:ea typeface="Microsoft YaHei"/>
              </a:rPr>
              <a:t>9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889000"/>
            <a:ext cx="5334000" cy="4826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0000" b="1">
                <a:solidFill>
                  <a:srgbClr val="304FA0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0" y="2032000"/>
            <a:ext cx="5588000" cy="762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五大核心智能体设计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0" y="2921000"/>
            <a:ext cx="508000" cy="38100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96000" y="3175000"/>
            <a:ext cx="5588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0">
                <a:solidFill>
                  <a:srgbClr val="8899BB"/>
                </a:solidFill>
                <a:latin typeface="Microsoft YaHei"/>
                <a:ea typeface="Microsoft YaHei"/>
              </a:rPr>
              <a:t>Five Intelligent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0" y="3810000"/>
            <a:ext cx="5588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Microsoft YaHei"/>
                <a:ea typeface="Microsoft YaHei"/>
              </a:rPr>
              <a:t>·  画像·资源·路径·辅导·评估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4216400"/>
            <a:ext cx="5588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Microsoft YaHei"/>
                <a:ea typeface="Microsoft YaHei"/>
              </a:rPr>
              <a:t>·  5类智能体职责与协作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4622800"/>
            <a:ext cx="5588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Microsoft YaHei"/>
                <a:ea typeface="Microsoft YaHei"/>
              </a:rPr>
              <a:t>·  每个智能体的核心能力拆解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5232400"/>
            <a:ext cx="5588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8899BB"/>
                </a:solidFill>
                <a:latin typeface="Microsoft YaHei"/>
                <a:ea typeface="Microsoft YaHei"/>
              </a:rPr>
              <a:t>本章范围 · P. 9 - 14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400" y="127000"/>
            <a:ext cx="8890000" cy="30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03    </a:t>
            </a:r>
            <a:r>
              <a:rPr sz="1100">
                <a:solidFill>
                  <a:srgbClr val="CCCCCC"/>
                </a:solidFill>
                <a:latin typeface="Microsoft YaHei"/>
                <a:ea typeface="Microsoft YaHei"/>
              </a:rPr>
              <a:t>五大核心智能体设计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76000" y="6680200"/>
            <a:ext cx="838200" cy="15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800" b="0">
                <a:solidFill>
                  <a:srgbClr val="AAAAAA"/>
                </a:solidFill>
                <a:latin typeface="Microsoft YaHei"/>
                <a:ea typeface="Microsoft YaHei"/>
              </a:rPr>
              <a:t>10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11200"/>
            <a:ext cx="406400" cy="381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8000" y="812800"/>
            <a:ext cx="10922000" cy="482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画像构建智能体  (Profile Agent)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320800"/>
            <a:ext cx="10922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Microsoft YaHei"/>
                <a:ea typeface="Microsoft YaHei"/>
              </a:rPr>
              <a:t>系统的"感知层" — 对话式 6 维画像构建 · 随学随新动态更新 · 跨页面持久化共享</a:t>
            </a:r>
          </a:p>
        </p:txBody>
      </p:sp>
      <p:pic>
        <p:nvPicPr>
          <p:cNvPr id="10" name="Picture 9" descr="PixPin_2026-06-15_10-34-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925206"/>
            <a:ext cx="6604000" cy="389658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93000" y="1651000"/>
            <a:ext cx="4191000" cy="9144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70800" y="1727200"/>
            <a:ext cx="38354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角色定位 — 系统的"感知层"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70800" y="2006600"/>
            <a:ext cx="3835400" cy="482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通过对话理解学习者，构建6维动态画像；画像随学习过程持续更新，注入所有下游智能体。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3000" y="2692400"/>
            <a:ext cx="4191000" cy="19558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70800" y="2768600"/>
            <a:ext cx="38354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6 维画像结构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70800" y="3149600"/>
            <a:ext cx="25400" cy="1524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0" y="3098800"/>
            <a:ext cx="10414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知识基础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327400"/>
            <a:ext cx="1244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已掌握知识的广度与深度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42400" y="3149600"/>
            <a:ext cx="25400" cy="1524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0" y="3098800"/>
            <a:ext cx="10414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认知风格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327400"/>
            <a:ext cx="1244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视觉/文字/动手偏好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14000" y="3149600"/>
            <a:ext cx="25400" cy="1524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0" y="3098800"/>
            <a:ext cx="10414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易错偏好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3327400"/>
            <a:ext cx="1244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高频错误与薄弱区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70800" y="3657600"/>
            <a:ext cx="25400" cy="1524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0" y="3606800"/>
            <a:ext cx="10414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学习节奏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3835400"/>
            <a:ext cx="1244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最佳学习时长与速度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42400" y="3657600"/>
            <a:ext cx="25400" cy="1524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0" y="3606800"/>
            <a:ext cx="10414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兴趣方向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3835400"/>
            <a:ext cx="1244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偏好的学科与技术方向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414000" y="3657600"/>
            <a:ext cx="25400" cy="1524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515600" y="3606800"/>
            <a:ext cx="10414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学习习惯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3835400"/>
            <a:ext cx="1244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时间段/专注度/持续性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3000" y="4775200"/>
            <a:ext cx="4191000" cy="13462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70800" y="4851400"/>
            <a:ext cx="38354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关键特性：随学随新 + 跨智能体共享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70800" y="5130800"/>
            <a:ext cx="3835400" cy="914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· 对话式构建：自然语言输入
· localStorage跨页面持久化
· 做题反馈回流自动更新画像
· System Prompt注入所有下游智能体
· 6维雷达可视化展示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273800"/>
            <a:ext cx="12192000" cy="584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8000" y="6427400"/>
            <a:ext cx="1117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画像智能体是整个系统的"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大脑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"：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从感知到决策，驱动所有下游智能体的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个性化行为</a:t>
            </a:r>
            <a:endParaRPr sz="1800" b="1" dirty="0">
              <a:solidFill>
                <a:srgbClr val="D6001C"/>
              </a:solidFill>
              <a:latin typeface="Microsoft YaHei"/>
              <a:ea typeface="Microsoft YaHei"/>
            </a:endParaRPr>
          </a:p>
        </p:txBody>
      </p:sp>
      <p:pic>
        <p:nvPicPr>
          <p:cNvPr id="40" name="Picture 3" descr="图片1.jpg">
            <a:extLst>
              <a:ext uri="{FF2B5EF4-FFF2-40B4-BE49-F238E27FC236}">
                <a16:creationId xmlns:a16="http://schemas.microsoft.com/office/drawing/2014/main" id="{8F03F56A-F8C5-B195-B778-A66C8F6AB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0462" y="561974"/>
            <a:ext cx="2381538" cy="7080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400" y="127000"/>
            <a:ext cx="8890000" cy="30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03    </a:t>
            </a:r>
            <a:r>
              <a:rPr sz="1100">
                <a:solidFill>
                  <a:srgbClr val="CCCCCC"/>
                </a:solidFill>
                <a:latin typeface="Microsoft YaHei"/>
                <a:ea typeface="Microsoft YaHei"/>
              </a:rPr>
              <a:t>五大核心智能体设计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76000" y="6680200"/>
            <a:ext cx="838200" cy="15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800" b="0">
                <a:solidFill>
                  <a:srgbClr val="AAAAAA"/>
                </a:solidFill>
                <a:latin typeface="Microsoft YaHei"/>
                <a:ea typeface="Microsoft YaHei"/>
              </a:rPr>
              <a:t>11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11200"/>
            <a:ext cx="406400" cy="381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8000" y="812800"/>
            <a:ext cx="10922000" cy="482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资源生成智能体  (Resource Agent)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320800"/>
            <a:ext cx="10922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Microsoft YaHei"/>
                <a:ea typeface="Microsoft YaHei"/>
              </a:rPr>
              <a:t>系统的"生产层" — 基于画像定制 6 类资源 · 多智能体流水线协作 · SSE 实时状态回传</a:t>
            </a:r>
          </a:p>
        </p:txBody>
      </p:sp>
      <p:pic>
        <p:nvPicPr>
          <p:cNvPr id="10" name="Picture 9" descr="PixPin_2026-06-15_10-35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2028775"/>
            <a:ext cx="6604000" cy="368945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93000" y="1651000"/>
            <a:ext cx="4191000" cy="889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70800" y="1727200"/>
            <a:ext cx="38354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角色定位 — 系统的"生产层"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70800" y="2006600"/>
            <a:ext cx="3835400" cy="457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基于画像为每个学习主题生成6类定制资源。Planner拆解任务→5类Worker并行执行。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3000" y="2667000"/>
            <a:ext cx="4191000" cy="18034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70800" y="2743200"/>
            <a:ext cx="38354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6 种资源类型（2×3 网格）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70800" y="3149600"/>
            <a:ext cx="25400" cy="177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0" y="3098800"/>
            <a:ext cx="1016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文档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327400"/>
            <a:ext cx="1244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结构化Markdown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42400" y="3149600"/>
            <a:ext cx="25400" cy="177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0" y="3098800"/>
            <a:ext cx="1016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思维导图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327400"/>
            <a:ext cx="1244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Mermaid格式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14000" y="3149600"/>
            <a:ext cx="25400" cy="177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0" y="3098800"/>
            <a:ext cx="1016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测验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3327400"/>
            <a:ext cx="1244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自动判分+AI评阅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70800" y="3657600"/>
            <a:ext cx="25400" cy="177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0" y="3606800"/>
            <a:ext cx="1016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阅读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3835400"/>
            <a:ext cx="1244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深度阅读+概念标注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42400" y="3657600"/>
            <a:ext cx="25400" cy="177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0" y="3606800"/>
            <a:ext cx="1016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视频脚本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3835400"/>
            <a:ext cx="1244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分镜+时间戳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414000" y="3657600"/>
            <a:ext cx="25400" cy="177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515600" y="3606800"/>
            <a:ext cx="1016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代码案例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3835400"/>
            <a:ext cx="1244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可执行+注释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3000" y="4597400"/>
            <a:ext cx="4191000" cy="1524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70800" y="4673600"/>
            <a:ext cx="38354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多智能体协作流水线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70800" y="4953000"/>
            <a:ext cx="3835400" cy="1092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· Planner Agent解析目标→拆解子任务
· 5类Worker并行执行，各负责一类资源
· SSE实时回传每个Worker状态
· 失败自动重试3次（指数退避）
· AbortSignal一键取消
· 6 Worker并发完成 &lt; 8s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273800"/>
            <a:ext cx="12192000" cy="584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8000" y="6427400"/>
            <a:ext cx="1117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资源智能体将"</a:t>
            </a:r>
            <a:r>
              <a:rPr sz="1800" b="1" dirty="0">
                <a:solidFill>
                  <a:srgbClr val="D6001C"/>
                </a:solidFill>
                <a:latin typeface="Microsoft YaHei"/>
                <a:ea typeface="Microsoft YaHei"/>
              </a:rPr>
              <a:t>千人千面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"落地为"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一人一案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"：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每个学生获得画像驱动的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专属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学习资源</a:t>
            </a:r>
            <a:endParaRPr sz="1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pic>
        <p:nvPicPr>
          <p:cNvPr id="40" name="Picture 3" descr="图片1.jpg">
            <a:extLst>
              <a:ext uri="{FF2B5EF4-FFF2-40B4-BE49-F238E27FC236}">
                <a16:creationId xmlns:a16="http://schemas.microsoft.com/office/drawing/2014/main" id="{AC518B5B-2DB6-AEA3-8F08-93303339A4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0462" y="561974"/>
            <a:ext cx="2381538" cy="7080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400" y="127000"/>
            <a:ext cx="8890000" cy="30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03    </a:t>
            </a:r>
            <a:r>
              <a:rPr sz="1100">
                <a:solidFill>
                  <a:srgbClr val="CCCCCC"/>
                </a:solidFill>
                <a:latin typeface="Microsoft YaHei"/>
                <a:ea typeface="Microsoft YaHei"/>
              </a:rPr>
              <a:t>五大核心智能体设计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76000" y="6680200"/>
            <a:ext cx="838200" cy="15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800" b="0">
                <a:solidFill>
                  <a:srgbClr val="AAAAAA"/>
                </a:solidFill>
                <a:latin typeface="Microsoft YaHei"/>
                <a:ea typeface="Microsoft YaHei"/>
              </a:rPr>
              <a:t>12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11200"/>
            <a:ext cx="406400" cy="381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8000" y="812800"/>
            <a:ext cx="10922000" cy="482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路径规划智能体  (Path Agent)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320800"/>
            <a:ext cx="10922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Microsoft YaHei"/>
                <a:ea typeface="Microsoft YaHei"/>
              </a:rPr>
              <a:t>系统的"导航层" — AI自由生成 + 12预定义路径 · 节点绑定题库/模块ID · 80%阈值双向同步</a:t>
            </a:r>
          </a:p>
        </p:txBody>
      </p:sp>
      <p:pic>
        <p:nvPicPr>
          <p:cNvPr id="10" name="Picture 9" descr="PixPin_2026-06-15_10-36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925206"/>
            <a:ext cx="6604000" cy="389658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93000" y="1651000"/>
            <a:ext cx="4191000" cy="8255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9525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70800" y="1727200"/>
            <a:ext cx="38354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角色定位 — 系统的"导航层"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70800" y="2006600"/>
            <a:ext cx="3835400" cy="381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根据画像生成结构化路径，将知识点对接到具体题库。支持AI自由生成和12条预定义路径。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3000" y="2590800"/>
            <a:ext cx="4191000" cy="2159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9525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70800" y="2667000"/>
            <a:ext cx="38354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双轨模式 + 12条预定义路径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0800" y="2971800"/>
            <a:ext cx="3835400" cy="1676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【AI 自由生成】输入目标→AI流式输出节点列表
【12条预定义路径（一键采用）】
Python全栈·算法工程师·数据分析师
前端开发·后端开发·DevOps工程师
机器学习·网络安全·数据库管理员
软件测试·系统架构师·全栈Web开发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3000" y="4876800"/>
            <a:ext cx="4191000" cy="12446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9525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70800" y="4953000"/>
            <a:ext cx="38354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路径 ↔ 练习 双向同步闭环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70800" y="5232400"/>
            <a:ext cx="3835400" cy="812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· Path激活→localStorage→Practice过滤
· 模块完成≥80%→自动标记done
· customEvent广播→Assessment刷新
· 做题回流画像→推荐新路径→闭环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273800"/>
            <a:ext cx="12192000" cy="584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8000" y="6427400"/>
            <a:ext cx="1117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路径智能体实现"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学-练-评-荐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"四位一体：从知识点到题库到评估的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完整自动化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闭环</a:t>
            </a:r>
            <a:endParaRPr sz="1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pic>
        <p:nvPicPr>
          <p:cNvPr id="23" name="Picture 3" descr="图片1.jpg">
            <a:extLst>
              <a:ext uri="{FF2B5EF4-FFF2-40B4-BE49-F238E27FC236}">
                <a16:creationId xmlns:a16="http://schemas.microsoft.com/office/drawing/2014/main" id="{F2727480-FC52-9FF2-6C54-40BDCC931B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0462" y="561974"/>
            <a:ext cx="2381538" cy="7080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400" y="127000"/>
            <a:ext cx="8890000" cy="30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03    </a:t>
            </a:r>
            <a:r>
              <a:rPr sz="1100">
                <a:solidFill>
                  <a:srgbClr val="CCCCCC"/>
                </a:solidFill>
                <a:latin typeface="Microsoft YaHei"/>
                <a:ea typeface="Microsoft YaHei"/>
              </a:rPr>
              <a:t>五大核心智能体设计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76000" y="6680200"/>
            <a:ext cx="838200" cy="15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800" b="0">
                <a:solidFill>
                  <a:srgbClr val="AAAAAA"/>
                </a:solidFill>
                <a:latin typeface="Microsoft YaHei"/>
                <a:ea typeface="Microsoft YaHei"/>
              </a:rPr>
              <a:t>13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11200"/>
            <a:ext cx="406400" cy="381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8000" y="812800"/>
            <a:ext cx="10922000" cy="482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辅导答疑智能体  (Tutor Agent)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320800"/>
            <a:ext cx="10922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Microsoft YaHei"/>
                <a:ea typeface="Microsoft YaHei"/>
              </a:rPr>
              <a:t>系统的"交互层" — 4 种解答模式 · 追问链深度对话 · 画像注入个性化 · 5 项工程优化</a:t>
            </a:r>
          </a:p>
        </p:txBody>
      </p:sp>
      <p:pic>
        <p:nvPicPr>
          <p:cNvPr id="10" name="Picture 9" descr="PixPin_2026-06-15_10-37-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2028775"/>
            <a:ext cx="6604000" cy="368945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93000" y="1651000"/>
            <a:ext cx="4191000" cy="18796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70800" y="1727200"/>
            <a:ext cx="38354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角色定位 + 4 种解答模式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70800" y="1981200"/>
            <a:ext cx="38354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一对一智能辅导，根据画像调整回答风格与深度；支持多轮追问链。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70800" y="2413000"/>
            <a:ext cx="381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97800" y="2362200"/>
            <a:ext cx="1117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文字模式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7800" y="2590800"/>
            <a:ext cx="1778000" cy="203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Markdown+代码高亮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77400" y="2413000"/>
            <a:ext cx="381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04400" y="2362200"/>
            <a:ext cx="1117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图解模式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04400" y="2590800"/>
            <a:ext cx="1778000" cy="203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Mermaid/ASCII流程图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70800" y="2819400"/>
            <a:ext cx="381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97800" y="2768600"/>
            <a:ext cx="1117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视频模式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7800" y="2997200"/>
            <a:ext cx="1778000" cy="203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脚本+时间戳+节奏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77400" y="2819400"/>
            <a:ext cx="381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804400" y="2768600"/>
            <a:ext cx="1117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代码模式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4400" y="2997200"/>
            <a:ext cx="1778000" cy="203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  <a:ea typeface="Microsoft YaHei"/>
              </a:rPr>
              <a:t>可执行+逐行注释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3000" y="3683000"/>
            <a:ext cx="4191000" cy="24384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70800" y="3759200"/>
            <a:ext cx="38354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5 项深度工程优化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70800" y="4038600"/>
            <a:ext cx="3835400" cy="2006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① 画像注入System Prompt→自动调整风格难度
② 缓存去重（问题+模式双键）→避免重复调用
③ 追问链parentId/followUpIds→深度多轮对话
④ 点踩重新生成（含原因分析）→全新解答
⑤ AbortSignal取消+红色按钮→随时中断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273800"/>
            <a:ext cx="12192000" cy="584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8000" y="6427400"/>
            <a:ext cx="1117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辅导智能体将AI辅导从"冷冰冰的问答"升级为"具备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记忆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与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纠错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能力的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深度互动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pic>
        <p:nvPicPr>
          <p:cNvPr id="32" name="Picture 3" descr="图片1.jpg">
            <a:extLst>
              <a:ext uri="{FF2B5EF4-FFF2-40B4-BE49-F238E27FC236}">
                <a16:creationId xmlns:a16="http://schemas.microsoft.com/office/drawing/2014/main" id="{1AC4B629-098E-E9F0-AFF6-6304B11E65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0462" y="561974"/>
            <a:ext cx="2381538" cy="7080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400" y="127000"/>
            <a:ext cx="8890000" cy="30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03    </a:t>
            </a:r>
            <a:r>
              <a:rPr sz="1100">
                <a:solidFill>
                  <a:srgbClr val="CCCCCC"/>
                </a:solidFill>
                <a:latin typeface="Microsoft YaHei"/>
                <a:ea typeface="Microsoft YaHei"/>
              </a:rPr>
              <a:t>五大核心智能体设计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76000" y="6680200"/>
            <a:ext cx="838200" cy="15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800" b="0">
                <a:solidFill>
                  <a:srgbClr val="AAAAAA"/>
                </a:solidFill>
                <a:latin typeface="Microsoft YaHei"/>
                <a:ea typeface="Microsoft YaHei"/>
              </a:rPr>
              <a:t>14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11200"/>
            <a:ext cx="406400" cy="381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8000" y="812800"/>
            <a:ext cx="10922000" cy="482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效果评估智能体  (Assessment Agent)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320800"/>
            <a:ext cx="10922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Microsoft YaHei"/>
                <a:ea typeface="Microsoft YaHei"/>
              </a:rPr>
              <a:t>系统的"反馈层" — 真实练习数据驱动 · 6 维能力雷达 · 智能调整建议 · 以评促学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000" y="1651000"/>
            <a:ext cx="6604000" cy="4445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62000" y="1905000"/>
            <a:ext cx="1333500" cy="889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62000" y="1905000"/>
            <a:ext cx="50800" cy="889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006600"/>
            <a:ext cx="1206500" cy="406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</a:rPr>
              <a:t>126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413000"/>
            <a:ext cx="12065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已做题数 (题)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49500" y="1905000"/>
            <a:ext cx="1333500" cy="889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349500" y="1905000"/>
            <a:ext cx="50800" cy="889000"/>
          </a:xfrm>
          <a:prstGeom prst="rect">
            <a:avLst/>
          </a:prstGeom>
          <a:solidFill>
            <a:srgbClr val="486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501900" y="2006600"/>
            <a:ext cx="1206500" cy="406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</a:rPr>
              <a:t>78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1900" y="2413000"/>
            <a:ext cx="12065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正确率 (%)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7000" y="1905000"/>
            <a:ext cx="1333500" cy="889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937000" y="1905000"/>
            <a:ext cx="50800" cy="889000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089400" y="2006600"/>
            <a:ext cx="1206500" cy="406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</a:rPr>
              <a:t>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9400" y="2413000"/>
            <a:ext cx="12065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学习时长 (小时)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24500" y="1905000"/>
            <a:ext cx="1333500" cy="889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524500" y="1905000"/>
            <a:ext cx="50800" cy="889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76900" y="2006600"/>
            <a:ext cx="1206500" cy="406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6900" y="2413000"/>
            <a:ext cx="12065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连续天数 (天)</a:t>
            </a:r>
          </a:p>
        </p:txBody>
      </p:sp>
      <p:pic>
        <p:nvPicPr>
          <p:cNvPr id="27" name="Picture 26" descr="_mock_ra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048000"/>
            <a:ext cx="2921000" cy="2794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3937000" y="3048000"/>
            <a:ext cx="2921000" cy="2794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40200" y="3200400"/>
            <a:ext cx="2514600" cy="355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  <a:ea typeface="Microsoft YaHei"/>
              </a:rPr>
              <a:t>智能学习建议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91000" y="3784600"/>
            <a:ext cx="127000" cy="127000"/>
          </a:xfrm>
          <a:prstGeom prst="rect">
            <a:avLst/>
          </a:prstGeom>
          <a:solidFill>
            <a:srgbClr val="486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94200" y="3683000"/>
            <a:ext cx="762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4868B0"/>
                </a:solidFill>
                <a:latin typeface="Microsoft YaHei"/>
                <a:ea typeface="Microsoft YaHei"/>
              </a:rPr>
              <a:t>知识基础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7000" y="3683000"/>
            <a:ext cx="1397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基础扎实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91000" y="4292600"/>
            <a:ext cx="127000" cy="127000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94200" y="4191000"/>
            <a:ext cx="762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D6001C"/>
                </a:solidFill>
                <a:latin typeface="Microsoft YaHei"/>
                <a:ea typeface="Microsoft YaHei"/>
              </a:rPr>
              <a:t>易错偏好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07000" y="4191000"/>
            <a:ext cx="1397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易错于装饰器，建议专项练习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91000" y="4800600"/>
            <a:ext cx="127000" cy="127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94200" y="4699000"/>
            <a:ext cx="762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学习节奏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07000" y="4699000"/>
            <a:ext cx="1397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建议每天 45 分钟连续学习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91000" y="5308600"/>
            <a:ext cx="127000" cy="127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394200" y="5207000"/>
            <a:ext cx="762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兴趣方向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07000" y="5207000"/>
            <a:ext cx="1397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倾向 Web 开发，可拓展前后端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93000" y="1651000"/>
            <a:ext cx="4191000" cy="1651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670800" y="1727200"/>
            <a:ext cx="38354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真实进度同步 — "不造假"原则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70800" y="2006600"/>
            <a:ext cx="3835400" cy="1219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· 直接读取practiceState（Practice页写入）
· 监听practiceStateUpdated事件实时刷新
· 4个统计卡+模块进度卡全基于真实数据
· 无练习记录→显示"去练习"引导提示
· 画像数据同步读取，雷达图反映最新状态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93000" y="3454400"/>
            <a:ext cx="419100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670800" y="3530600"/>
            <a:ext cx="38354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6 维能力雷达 + 智能建议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70800" y="3810000"/>
            <a:ext cx="3835400" cy="939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【6维雷达Recharts RadarChart】
知识基础·认知风格·易错偏好
学习节奏·兴趣方向·学习习惯
【4类智能调整建议】
专项练习·节奏建议·路径推荐·整体策略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493000" y="4978400"/>
            <a:ext cx="4191000" cy="1143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70800" y="5054600"/>
            <a:ext cx="38354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以评促学 — 学习闭环最后一环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70800" y="5334000"/>
            <a:ext cx="3835400" cy="711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评估不是终点，而是新起点：
暴露弱项→专项练习→节奏调整→路径推荐
形成"练习→评估→建议→再练习"持续改进循环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273800"/>
            <a:ext cx="12192000" cy="584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08000" y="6427400"/>
            <a:ext cx="1117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评估智能体让</a:t>
            </a:r>
            <a:r>
              <a:rPr sz="1800" b="1" dirty="0">
                <a:solidFill>
                  <a:srgbClr val="D6001C"/>
                </a:solidFill>
                <a:latin typeface="Microsoft YaHei"/>
                <a:ea typeface="Microsoft YaHei"/>
              </a:rPr>
              <a:t>数据"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说话</a:t>
            </a:r>
            <a:r>
              <a:rPr sz="1800" b="1" dirty="0">
                <a:solidFill>
                  <a:srgbClr val="D6001C"/>
                </a:solidFill>
                <a:latin typeface="Microsoft YaHei"/>
                <a:ea typeface="Microsoft YaHei"/>
              </a:rPr>
              <a:t>"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：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从练习到雷达再到建议，形成完整的"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以评促学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"学习闭环</a:t>
            </a:r>
            <a:endParaRPr sz="1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pic>
        <p:nvPicPr>
          <p:cNvPr id="54" name="Picture 3" descr="图片1.jpg">
            <a:extLst>
              <a:ext uri="{FF2B5EF4-FFF2-40B4-BE49-F238E27FC236}">
                <a16:creationId xmlns:a16="http://schemas.microsoft.com/office/drawing/2014/main" id="{5422A6CD-FC20-88F1-2441-BD90A9BEB2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0462" y="561974"/>
            <a:ext cx="2381538" cy="7080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52400" y="127000"/>
            <a:ext cx="8890000" cy="30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04    </a:t>
            </a:r>
            <a:r>
              <a:rPr sz="1100">
                <a:solidFill>
                  <a:srgbClr val="CCCCCC"/>
                </a:solidFill>
                <a:latin typeface="Microsoft YaHei"/>
                <a:ea typeface="Microsoft YaHei"/>
              </a:rPr>
              <a:t>关键技术深挖与总结展望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176000" y="6680200"/>
            <a:ext cx="838200" cy="15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800" b="0">
                <a:solidFill>
                  <a:srgbClr val="AAAAAA"/>
                </a:solidFill>
                <a:latin typeface="Microsoft YaHei"/>
                <a:ea typeface="Microsoft YaHei"/>
              </a:rPr>
              <a:t>15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889000"/>
            <a:ext cx="5334000" cy="4826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20000" b="1">
                <a:solidFill>
                  <a:srgbClr val="304FA0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0" y="2032000"/>
            <a:ext cx="5588000" cy="762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关键技术深挖与总结展望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0" y="2921000"/>
            <a:ext cx="508000" cy="38100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96000" y="3175000"/>
            <a:ext cx="5588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0">
                <a:solidFill>
                  <a:srgbClr val="8899BB"/>
                </a:solidFill>
                <a:latin typeface="Microsoft YaHei"/>
                <a:ea typeface="Microsoft YaHei"/>
              </a:rPr>
              <a:t>Key Technologies &amp; Outlook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0" y="3810000"/>
            <a:ext cx="5588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Microsoft YaHei"/>
                <a:ea typeface="Microsoft YaHei"/>
              </a:rPr>
              <a:t>·  多智能体协同框架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4216400"/>
            <a:ext cx="5588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Microsoft YaHei"/>
                <a:ea typeface="Microsoft YaHei"/>
              </a:rPr>
              <a:t>·  流式交互与思考可视化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4622800"/>
            <a:ext cx="5588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Microsoft YaHei"/>
                <a:ea typeface="Microsoft YaHei"/>
              </a:rPr>
              <a:t>·  路径与练习双向同步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5029200"/>
            <a:ext cx="5588000" cy="330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Microsoft YaHei"/>
                <a:ea typeface="Microsoft YaHei"/>
              </a:rPr>
              <a:t>·  5项创新+3大未来方向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5638800"/>
            <a:ext cx="5588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8899BB"/>
                </a:solidFill>
                <a:latin typeface="Microsoft YaHei"/>
                <a:ea typeface="Microsoft YaHei"/>
              </a:rPr>
              <a:t>本章范围 · P. 15 - 20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400" y="127000"/>
            <a:ext cx="8890000" cy="30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04    </a:t>
            </a:r>
            <a:r>
              <a:rPr sz="1100">
                <a:solidFill>
                  <a:srgbClr val="CCCCCC"/>
                </a:solidFill>
                <a:latin typeface="Microsoft YaHei"/>
                <a:ea typeface="Microsoft YaHei"/>
              </a:rPr>
              <a:t>关键技术深挖与总结展望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76000" y="6680200"/>
            <a:ext cx="838200" cy="15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800" b="0">
                <a:solidFill>
                  <a:srgbClr val="AAAAAA"/>
                </a:solidFill>
                <a:latin typeface="Microsoft YaHei"/>
                <a:ea typeface="Microsoft YaHei"/>
              </a:rPr>
              <a:t>16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85800"/>
            <a:ext cx="457200" cy="381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8000" y="812800"/>
            <a:ext cx="11176000" cy="533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3200" b="1">
                <a:solidFill>
                  <a:srgbClr val="0C24C4"/>
                </a:solidFill>
                <a:latin typeface="Microsoft YaHei"/>
                <a:ea typeface="Microsoft YaHei"/>
              </a:rPr>
              <a:t>多智能体协同框架与事件总线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371600"/>
            <a:ext cx="11176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Microsoft YaHei"/>
                <a:ea typeface="Microsoft YaHei"/>
              </a:rPr>
              <a:t>MultiAgentScheduler + EventEmitter 完全解耦 · 代码精简 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1651000"/>
            <a:ext cx="5588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0C24C4"/>
                </a:solidFill>
                <a:latin typeface="Microsoft YaHei"/>
                <a:ea typeface="Microsoft YaHei"/>
              </a:rPr>
              <a:t>MultiAgentScheduler 核心类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000" y="1981200"/>
            <a:ext cx="5588000" cy="1778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0400" y="2082800"/>
            <a:ext cx="52832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▶ TypeScript 核心接口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400" y="2413000"/>
            <a:ext cx="5283200" cy="1244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class MultiAgentScheduler {
    agents: Map&lt;Role, Agent&gt;      // 角色映射
    eventBus: EventEmitter        // 事件总线
    registerAgent(role, agent)
    dispatch(role, task) → Result
    runPipeline(tasks) → Result[]
    getAgentStates() → Map
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3886200"/>
            <a:ext cx="5588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0C24C4"/>
                </a:solidFill>
                <a:latin typeface="Microsoft YaHei"/>
                <a:ea typeface="Microsoft YaHei"/>
              </a:rPr>
              <a:t>状态机 &amp; 关键设计决策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000" y="4216400"/>
            <a:ext cx="5588000" cy="20066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8000" y="4216400"/>
            <a:ext cx="38100" cy="20066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0400" y="4318000"/>
            <a:ext cx="5334000" cy="1828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【Planner→Worker 调度模型】
· Planner解析目标→拆解子任务队列
· 6 Worker并行，状态：pending→running→done
· failed自动重试3次（指数退避1s→2s→4s）
【事件总线解耦 — 核心决策】
· 5智能体零硬编码依赖，仅通过EventEmitter通信
· 新增智能体只需registerAgent()即可接入
· ResourceGenerator复用调度逻辑
效果：代码量-40%，新增智能体成本-80%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0" y="1651000"/>
            <a:ext cx="5207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0C24C4"/>
                </a:solidFill>
                <a:latin typeface="Microsoft YaHei"/>
                <a:ea typeface="Microsoft YaHei"/>
              </a:rPr>
              <a:t>5 智能体事件总线协作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77000" y="1981200"/>
            <a:ext cx="5207000" cy="2514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2082800"/>
            <a:ext cx="49022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1">
                <a:solidFill>
                  <a:srgbClr val="0C24C4"/>
                </a:solidFill>
                <a:latin typeface="Microsoft YaHei"/>
                <a:ea typeface="Microsoft YaHei"/>
              </a:rPr>
              <a:t>▶ 事件总线解耦架构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413000"/>
            <a:ext cx="4902200" cy="1981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</a:rPr>
              <a:t>Profile ── Resource ── Path
    │ profile:updated │ resource:done │ path:scheduled
    ▼         ▼         ▼
    ┌─────── EventEmitter (事件总线) ───────┐
    │ 解耦通信：只与事件总线交互，不直接依赖 │
    └───────────────────────────────────────┘
    │         │         │
    ▼         ▼         ▼
Assessment ◄─ Tutor ◄───┘
    │ assessment:done  │ tutor:answered
闭环：做题→profile:updated→推荐新路径→循环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7000" y="4648200"/>
            <a:ext cx="5207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0C24C4"/>
                </a:solidFill>
                <a:latin typeface="Microsoft YaHei"/>
                <a:ea typeface="Microsoft YaHei"/>
              </a:rPr>
              <a:t>5 智能体协作矩阵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7000" y="4978400"/>
            <a:ext cx="5207000" cy="12446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5080000"/>
            <a:ext cx="4902200" cy="1041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</a:rPr>
              <a:t>智能体      输入            输出         事件
────────────────────────────────────────
Profile     对话/做题结果   6维画像      profile:updated
Resource    学习目标+画像   6类资源      resource:generated
Path        画像+目标方向   结构化路径   path:scheduled
Tutor       问题+历史+画像  答案+思考    tutor:answered
Assessment  practiceState  评估+建议    assessment:done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273800"/>
            <a:ext cx="12192000" cy="584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8000" y="6427400"/>
            <a:ext cx="1117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核心创新：5个智能体通过事件总线</a:t>
            </a:r>
            <a:r>
              <a:rPr sz="1800" b="1" dirty="0">
                <a:solidFill>
                  <a:srgbClr val="D6001C"/>
                </a:solidFill>
                <a:latin typeface="Microsoft YaHei"/>
                <a:ea typeface="Microsoft YaHei"/>
              </a:rPr>
              <a:t>完全解耦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 — 新增智能体只需</a:t>
            </a:r>
            <a:r>
              <a:rPr sz="1800" b="1" dirty="0">
                <a:solidFill>
                  <a:srgbClr val="D6001C"/>
                </a:solidFill>
                <a:latin typeface="Microsoft YaHei"/>
                <a:ea typeface="Microsoft YaHei"/>
              </a:rPr>
              <a:t>1行注册代码</a:t>
            </a:r>
          </a:p>
        </p:txBody>
      </p:sp>
      <p:pic>
        <p:nvPicPr>
          <p:cNvPr id="28" name="Picture 3" descr="图片1.jpg">
            <a:extLst>
              <a:ext uri="{FF2B5EF4-FFF2-40B4-BE49-F238E27FC236}">
                <a16:creationId xmlns:a16="http://schemas.microsoft.com/office/drawing/2014/main" id="{3BD1A173-9619-5BAF-9B39-07ED6B76E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0462" y="561974"/>
            <a:ext cx="2381538" cy="7080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400" y="127000"/>
            <a:ext cx="8890000" cy="30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04    </a:t>
            </a:r>
            <a:r>
              <a:rPr sz="1100">
                <a:solidFill>
                  <a:srgbClr val="CCCCCC"/>
                </a:solidFill>
                <a:latin typeface="Microsoft YaHei"/>
                <a:ea typeface="Microsoft YaHei"/>
              </a:rPr>
              <a:t>关键技术深挖与总结展望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76000" y="6680200"/>
            <a:ext cx="838200" cy="15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800" b="0">
                <a:solidFill>
                  <a:srgbClr val="AAAAAA"/>
                </a:solidFill>
                <a:latin typeface="Microsoft YaHei"/>
                <a:ea typeface="Microsoft YaHei"/>
              </a:rPr>
              <a:t>17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85800"/>
            <a:ext cx="457200" cy="381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8000" y="812800"/>
            <a:ext cx="11176000" cy="533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3200" b="1">
                <a:solidFill>
                  <a:srgbClr val="0C24C4"/>
                </a:solidFill>
                <a:latin typeface="Microsoft YaHei"/>
                <a:ea typeface="Microsoft YaHei"/>
              </a:rPr>
              <a:t>流式交互与思考过程可视化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371600"/>
            <a:ext cx="11176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Microsoft YaHei"/>
                <a:ea typeface="Microsoft YaHei"/>
              </a:rPr>
              <a:t>SSE + ReadableStream 打字机效果 · 思考过程可折叠 · AbortSignal 中断 · 首字延迟&lt;2s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1651000"/>
            <a:ext cx="5588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0C24C4"/>
                </a:solidFill>
                <a:latin typeface="Microsoft YaHei"/>
                <a:ea typeface="Microsoft YaHei"/>
              </a:rPr>
              <a:t>streamChatCompletion 核心函数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000" y="1981200"/>
            <a:ext cx="5588000" cy="2159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0400" y="2082800"/>
            <a:ext cx="52832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▶ TypeScript 核心实现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400" y="2413000"/>
            <a:ext cx="5283200" cy="1625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async function* streamChatCompletion(
    messages: Message[],
    onChunk: (delta) =&gt; void,
    signal?: AbortSignal
): AsyncGenerator {
    const res = await fetch('/anthropic', {
        method:'POST', signal,
        body: JSON.stringify({messages, stream:true})
    })
    const reader = res.body.getReader()
    for await (const chunk of readSSE(reader)) {
        const {text, thinking} = parseChunk(chunk)
        onChunk({text, thinking})
    }
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4267200"/>
            <a:ext cx="5588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0C24C4"/>
                </a:solidFill>
                <a:latin typeface="Microsoft YaHei"/>
                <a:ea typeface="Microsoft YaHei"/>
              </a:rPr>
              <a:t>SSE 打字机时序 + 取消流程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000" y="4597400"/>
            <a:ext cx="5588000" cy="1625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0400" y="4699000"/>
            <a:ext cx="5283200" cy="142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</a:rPr>
              <a:t>用户输入 → POST /anthropic (stream:true)
    │
    ▼
chunk1 → onChunk("你") → UI: "你"
chunk2 → onChunk("好") → UI: "你好"
chunk3 → onChunk("世") → UI: "你好世"
    ... 持续流式直到 stop_reason
    │
    ▼
done → onComplete() → UI: "✓ 完成"
取消：点击取消→abort()→中断→"已取消"
性能：首字&lt;2s · 吞吐&gt;50 tok/s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77000" y="1651000"/>
            <a:ext cx="5207000" cy="121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77000" y="1651000"/>
            <a:ext cx="50800" cy="1219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54800" y="1727200"/>
            <a:ext cx="48514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0C24C4"/>
                </a:solidFill>
                <a:latin typeface="Microsoft YaHei"/>
                <a:ea typeface="Microsoft YaHei"/>
              </a:rPr>
              <a:t>打字机效果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4800" y="2057400"/>
            <a:ext cx="4851400" cy="762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fetch+ReadableStream逐chunk解析SSE；
每收到chunk立即setState更新UI；
视觉上ChatGPT式逐字出现；
支持Markdown实时渲染。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997200"/>
            <a:ext cx="5207000" cy="121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486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477000" y="2997200"/>
            <a:ext cx="50800" cy="1219200"/>
          </a:xfrm>
          <a:prstGeom prst="rect">
            <a:avLst/>
          </a:prstGeom>
          <a:solidFill>
            <a:srgbClr val="486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54800" y="3073400"/>
            <a:ext cx="48514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4868B0"/>
                </a:solidFill>
                <a:latin typeface="Microsoft YaHei"/>
                <a:ea typeface="Microsoft YaHei"/>
              </a:rPr>
              <a:t>思考过程可折叠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54800" y="3403600"/>
            <a:ext cx="4851400" cy="762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AI输出&lt;thinking&gt;块自动折叠；
默认隐藏在"💭思考过程"标签下；
用户点击展开查看AI推理逻辑；
增强AI可信度与透明度。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4343400"/>
            <a:ext cx="5207000" cy="121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77000" y="4343400"/>
            <a:ext cx="50800" cy="1219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54800" y="4419600"/>
            <a:ext cx="48514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0C24C4"/>
                </a:solidFill>
                <a:latin typeface="Microsoft YaHei"/>
                <a:ea typeface="Microsoft YaHei"/>
              </a:rPr>
              <a:t>AbortSignal取消控制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54800" y="4749800"/>
            <a:ext cx="4851400" cy="762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流式中点击红色"取消"按钮；
trigger abort()→fetch立即中断；
UI恢复"已取消"+取消时间；
已生成文本保留可继续编辑。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273800"/>
            <a:ext cx="12192000" cy="584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8000" y="6427400"/>
            <a:ext cx="1117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流式交互让AI"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开口说话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"：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打字机效果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 + 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思考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透明化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 = 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可信赖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的AI学习助手</a:t>
            </a:r>
            <a:endParaRPr sz="1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pic>
        <p:nvPicPr>
          <p:cNvPr id="32" name="Picture 3" descr="图片1.jpg">
            <a:extLst>
              <a:ext uri="{FF2B5EF4-FFF2-40B4-BE49-F238E27FC236}">
                <a16:creationId xmlns:a16="http://schemas.microsoft.com/office/drawing/2014/main" id="{342A9E4E-526F-93E3-FEFC-5ECDC5690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0462" y="561974"/>
            <a:ext cx="2381538" cy="7080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400" y="127000"/>
            <a:ext cx="8890000" cy="30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04    </a:t>
            </a:r>
            <a:r>
              <a:rPr sz="1100">
                <a:solidFill>
                  <a:srgbClr val="CCCCCC"/>
                </a:solidFill>
                <a:latin typeface="Microsoft YaHei"/>
                <a:ea typeface="Microsoft YaHei"/>
              </a:rPr>
              <a:t>关键技术深挖与总结展望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76000" y="6680200"/>
            <a:ext cx="838200" cy="15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800" b="0">
                <a:solidFill>
                  <a:srgbClr val="AAAAAA"/>
                </a:solidFill>
                <a:latin typeface="Microsoft YaHei"/>
                <a:ea typeface="Microsoft YaHei"/>
              </a:rPr>
              <a:t>18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85800"/>
            <a:ext cx="457200" cy="381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8000" y="812800"/>
            <a:ext cx="11176000" cy="533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3200" b="1">
                <a:solidFill>
                  <a:srgbClr val="0C24C4"/>
                </a:solidFill>
                <a:latin typeface="Microsoft YaHei"/>
                <a:ea typeface="Microsoft YaHei"/>
              </a:rPr>
              <a:t>路径与练习双向同步闭环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371600"/>
            <a:ext cx="11176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Microsoft YaHei"/>
                <a:ea typeface="Microsoft YaHei"/>
              </a:rPr>
              <a:t>StructuredLearningNode绑定题库/模块ID · localStorage单一数据源 · 80%阈值标记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1651000"/>
            <a:ext cx="10668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0C24C4"/>
                </a:solidFill>
                <a:latin typeface="Microsoft YaHei"/>
                <a:ea typeface="Microsoft YaHei"/>
              </a:rPr>
              <a:t>数据流闭环：Path → localStorage → Practice →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000" y="2006600"/>
            <a:ext cx="2286000" cy="584200"/>
          </a:xfrm>
          <a:prstGeom prst="roundRect">
            <a:avLst>
              <a:gd name="adj" fmla="val 15000"/>
            </a:avLst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Path 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94000" y="2298700"/>
            <a:ext cx="406400" cy="0"/>
          </a:xfrm>
          <a:prstGeom prst="line">
            <a:avLst/>
          </a:prstGeom>
          <a:ln w="19050">
            <a:solidFill>
              <a:srgbClr val="0C24C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200400" y="2006600"/>
            <a:ext cx="2286000" cy="584200"/>
          </a:xfrm>
          <a:prstGeom prst="roundRect">
            <a:avLst>
              <a:gd name="adj" fmla="val 15000"/>
            </a:avLst>
          </a:prstGeom>
          <a:solidFill>
            <a:srgbClr val="486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localStorage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0" y="2298700"/>
            <a:ext cx="406400" cy="0"/>
          </a:xfrm>
          <a:prstGeom prst="line">
            <a:avLst/>
          </a:prstGeom>
          <a:ln w="19050">
            <a:solidFill>
              <a:srgbClr val="0C24C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892800" y="2006600"/>
            <a:ext cx="2286000" cy="584200"/>
          </a:xfrm>
          <a:prstGeom prst="roundRect">
            <a:avLst>
              <a:gd name="adj" fmla="val 15000"/>
            </a:avLst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Practice 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178800" y="2298700"/>
            <a:ext cx="406400" cy="0"/>
          </a:xfrm>
          <a:prstGeom prst="line">
            <a:avLst/>
          </a:prstGeom>
          <a:ln w="19050">
            <a:solidFill>
              <a:srgbClr val="0C24C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585200" y="2006600"/>
            <a:ext cx="2286000" cy="584200"/>
          </a:xfrm>
          <a:prstGeom prst="roundRect">
            <a:avLst>
              <a:gd name="adj" fmla="val 15000"/>
            </a:avLst>
          </a:prstGeom>
          <a:solidFill>
            <a:srgbClr val="486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Assessment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2641600"/>
            <a:ext cx="22860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000" b="0">
                <a:solidFill>
                  <a:srgbClr val="0C24C4"/>
                </a:solidFill>
                <a:latin typeface="Microsoft YaHei"/>
                <a:ea typeface="Microsoft YaHei"/>
              </a:rPr>
              <a:t>激活路径写入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641600"/>
            <a:ext cx="22860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000" b="0">
                <a:solidFill>
                  <a:srgbClr val="4868B0"/>
                </a:solidFill>
                <a:latin typeface="Microsoft YaHei"/>
                <a:ea typeface="Microsoft YaHei"/>
              </a:rPr>
              <a:t>单一数据源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2800" y="2641600"/>
            <a:ext cx="22860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000" b="0">
                <a:solidFill>
                  <a:srgbClr val="0C24C4"/>
                </a:solidFill>
                <a:latin typeface="Microsoft YaHei"/>
                <a:ea typeface="Microsoft YaHei"/>
              </a:rPr>
              <a:t>读取+过滤+判分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85200" y="2641600"/>
            <a:ext cx="22860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000" b="0">
                <a:solidFill>
                  <a:srgbClr val="4868B0"/>
                </a:solidFill>
                <a:latin typeface="Microsoft YaHei"/>
                <a:ea typeface="Microsoft YaHei"/>
              </a:rPr>
              <a:t>读取+进度展示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2895600"/>
            <a:ext cx="8636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200" b="1">
                <a:solidFill>
                  <a:srgbClr val="0C24C4"/>
                </a:solidFill>
                <a:latin typeface="Microsoft YaHei"/>
                <a:ea typeface="Microsoft YaHei"/>
              </a:rPr>
              <a:t>🔄 做题→画像更新→推荐新路径→新练习→评估刷新（完整学习闭环）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000" y="3225800"/>
            <a:ext cx="5588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400" b="1">
                <a:solidFill>
                  <a:srgbClr val="0C24C4"/>
                </a:solidFill>
                <a:latin typeface="Microsoft YaHei"/>
                <a:ea typeface="Microsoft YaHei"/>
              </a:rPr>
              <a:t>StructuredLearningNode 接口 + 依赖DAG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8000" y="3606800"/>
            <a:ext cx="5588000" cy="18288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0400" y="3708400"/>
            <a:ext cx="52832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1">
                <a:solidFill>
                  <a:srgbClr val="0C24C4"/>
                </a:solidFill>
                <a:latin typeface="Microsoft YaHei"/>
                <a:ea typeface="Microsoft YaHei"/>
              </a:rPr>
              <a:t>▶ TypeScript + DAG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400" y="4038600"/>
            <a:ext cx="5283200" cy="1295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</a:rPr>
              <a:t>interface StructuredLearningNode {
    id: string;  title: string
    questionBankId: string   // 绑定题库
    moduleId: string         // 绑定模块
    score?: number           // 完成度 0-1
    dependencies?: string[]  // 前置节点
}
const THRESHOLD = 0.8  // 80%自动标记
[基础语法]→[控制流]→[函数]→[装饰器]
   ↓         ↓        ↓
[数据类型][异常处理][闭包/迭代器]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3225800"/>
            <a:ext cx="5207000" cy="7366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77000" y="3225800"/>
            <a:ext cx="38100" cy="7366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54800" y="3276600"/>
            <a:ext cx="48514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12题库×48题 = 576题全预写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4800" y="3581400"/>
            <a:ext cx="4851400" cy="355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全部预写，AI只判分不生成题目；从根源杜绝AI幻觉；题型比例6:3:1科学分布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77000" y="4038600"/>
            <a:ext cx="5207000" cy="7366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486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77000" y="4038600"/>
            <a:ext cx="38100" cy="736600"/>
          </a:xfrm>
          <a:prstGeom prst="rect">
            <a:avLst/>
          </a:prstGeom>
          <a:solidFill>
            <a:srgbClr val="486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654800" y="4089400"/>
            <a:ext cx="48514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4868B0"/>
                </a:solidFill>
                <a:latin typeface="Microsoft YaHei"/>
                <a:ea typeface="Microsoft YaHei"/>
              </a:rPr>
              <a:t>80%完成度阈值自动标记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54800" y="4394200"/>
            <a:ext cx="4851400" cy="355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模块完成≥0.8→自动标记done；customEvent广播事件；Path Banner+雷达图实时刷新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77000" y="4851400"/>
            <a:ext cx="5207000" cy="7366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77000" y="4851400"/>
            <a:ext cx="38100" cy="7366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54800" y="4902200"/>
            <a:ext cx="48514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customEvent跨页面解耦通信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4800" y="5207000"/>
            <a:ext cx="4851400" cy="355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不用Redux/Zustand；仅用浏览器原生CustomEvent；零依赖·跨页面·实时性&lt;100ms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273800"/>
            <a:ext cx="12192000" cy="584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08000" y="6427400"/>
            <a:ext cx="1117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双向同步是系统的"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神经网络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"：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路径定义→练习执行→进度反馈→路径调整，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全程自动化</a:t>
            </a:r>
            <a:endParaRPr sz="1800" b="1" dirty="0">
              <a:solidFill>
                <a:srgbClr val="D6001C"/>
              </a:solidFill>
              <a:latin typeface="Microsoft YaHei"/>
              <a:ea typeface="Microsoft YaHei"/>
            </a:endParaRPr>
          </a:p>
        </p:txBody>
      </p:sp>
      <p:pic>
        <p:nvPicPr>
          <p:cNvPr id="42" name="Picture 3" descr="图片1.jpg">
            <a:extLst>
              <a:ext uri="{FF2B5EF4-FFF2-40B4-BE49-F238E27FC236}">
                <a16:creationId xmlns:a16="http://schemas.microsoft.com/office/drawing/2014/main" id="{70BB8132-35F2-B890-90D6-FFE93ACB26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0462" y="561974"/>
            <a:ext cx="2381538" cy="7080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400" y="127000"/>
            <a:ext cx="8890000" cy="30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04    </a:t>
            </a:r>
            <a:r>
              <a:rPr sz="1100">
                <a:solidFill>
                  <a:srgbClr val="CCCCCC"/>
                </a:solidFill>
                <a:latin typeface="Microsoft YaHei"/>
                <a:ea typeface="Microsoft YaHei"/>
              </a:rPr>
              <a:t>关键技术深挖与总结展望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76000" y="6680200"/>
            <a:ext cx="838200" cy="15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800" b="0">
                <a:solidFill>
                  <a:srgbClr val="AAAAAA"/>
                </a:solidFill>
                <a:latin typeface="Microsoft YaHei"/>
                <a:ea typeface="Microsoft YaHei"/>
              </a:rPr>
              <a:t>19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85800"/>
            <a:ext cx="457200" cy="381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8000" y="812800"/>
            <a:ext cx="11176000" cy="533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3200" b="1">
                <a:solidFill>
                  <a:srgbClr val="0C24C4"/>
                </a:solidFill>
                <a:latin typeface="Microsoft YaHei"/>
                <a:ea typeface="Microsoft YaHei"/>
              </a:rPr>
              <a:t>系统评估与核心性能指标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371600"/>
            <a:ext cx="11176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Microsoft YaHei"/>
                <a:ea typeface="Microsoft YaHei"/>
              </a:rPr>
              <a:t>576题库 · 92%判分一致率 · &lt;2s首字延迟 · 0严重缺陷 · 6Worker并发&lt;8s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1651000"/>
            <a:ext cx="10668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600" b="1">
                <a:solidFill>
                  <a:srgbClr val="0C24C4"/>
                </a:solidFill>
                <a:latin typeface="Microsoft YaHei"/>
                <a:ea typeface="Microsoft YaHei"/>
              </a:rPr>
              <a:t>关键性能指标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000" y="2032000"/>
            <a:ext cx="2540000" cy="1143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90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8000" y="2032000"/>
            <a:ext cx="2540000" cy="50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1200" y="2184400"/>
            <a:ext cx="2133600" cy="457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3200" b="1">
                <a:solidFill>
                  <a:srgbClr val="0C24C4"/>
                </a:solidFill>
                <a:latin typeface="Microsoft YaHei"/>
                <a:ea typeface="Microsoft YaHei"/>
              </a:rPr>
              <a:t>576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200" y="2641600"/>
            <a:ext cx="2133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题库总题数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895600"/>
            <a:ext cx="21336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12库×48题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25800" y="2032000"/>
            <a:ext cx="2540000" cy="1143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9050">
            <a:solidFill>
              <a:srgbClr val="486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25800" y="2032000"/>
            <a:ext cx="2540000" cy="50800"/>
          </a:xfrm>
          <a:prstGeom prst="rect">
            <a:avLst/>
          </a:prstGeom>
          <a:solidFill>
            <a:srgbClr val="486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29000" y="2184400"/>
            <a:ext cx="2133600" cy="457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3200" b="1">
                <a:solidFill>
                  <a:srgbClr val="4868B0"/>
                </a:solidFill>
                <a:latin typeface="Microsoft YaHei"/>
                <a:ea typeface="Microsoft YaHei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641600"/>
            <a:ext cx="2133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AI判分一致率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2895600"/>
            <a:ext cx="21336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vs人工判分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2032000"/>
            <a:ext cx="2540000" cy="1143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90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943600" y="2032000"/>
            <a:ext cx="2540000" cy="50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46800" y="2184400"/>
            <a:ext cx="2133600" cy="457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3200" b="1">
                <a:solidFill>
                  <a:srgbClr val="0C24C4"/>
                </a:solidFill>
                <a:latin typeface="Microsoft YaHei"/>
                <a:ea typeface="Microsoft YaHei"/>
              </a:rPr>
              <a:t>&lt;2s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6800" y="2641600"/>
            <a:ext cx="2133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流式首字延迟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6800" y="2895600"/>
            <a:ext cx="21336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SSE首chunk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61400" y="2032000"/>
            <a:ext cx="2540000" cy="11430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9050">
            <a:solidFill>
              <a:srgbClr val="486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661400" y="2032000"/>
            <a:ext cx="2540000" cy="50800"/>
          </a:xfrm>
          <a:prstGeom prst="rect">
            <a:avLst/>
          </a:prstGeom>
          <a:solidFill>
            <a:srgbClr val="486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864600" y="2184400"/>
            <a:ext cx="2133600" cy="457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3200" b="1">
                <a:solidFill>
                  <a:srgbClr val="4868B0"/>
                </a:solidFill>
                <a:latin typeface="Microsoft YaHei"/>
                <a:ea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4600" y="2641600"/>
            <a:ext cx="21336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已知严重缺陷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4600" y="2895600"/>
            <a:ext cx="21336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build通过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8000" y="3403600"/>
            <a:ext cx="10668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600" b="1">
                <a:solidFill>
                  <a:srgbClr val="0C24C4"/>
                </a:solidFill>
                <a:latin typeface="Microsoft YaHei"/>
                <a:ea typeface="Microsoft YaHei"/>
              </a:rPr>
              <a:t>5 项系统测试结论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8000" y="3759200"/>
            <a:ext cx="11176000" cy="457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8000" y="3759200"/>
            <a:ext cx="50800" cy="457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11200" y="3835400"/>
            <a:ext cx="2032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题库覆盖度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1000" y="3860800"/>
            <a:ext cx="8636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12题库覆盖Python/Web/数据结构/网络/OS/数据库；题型6:3:1科学分布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8000" y="4279900"/>
            <a:ext cx="11176000" cy="457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486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8000" y="4279900"/>
            <a:ext cx="50800" cy="457200"/>
          </a:xfrm>
          <a:prstGeom prst="rect">
            <a:avLst/>
          </a:prstGeom>
          <a:solidFill>
            <a:srgbClr val="486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1200" y="4356100"/>
            <a:ext cx="2032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4868B0"/>
                </a:solidFill>
                <a:latin typeface="Microsoft YaHei"/>
                <a:ea typeface="Microsoft YaHei"/>
              </a:rPr>
              <a:t>AI判分一致性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1000" y="4381500"/>
            <a:ext cx="8636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随机30题简答，AI vs 人工判分一致率92%；开放性题目偶有差异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8000" y="4800600"/>
            <a:ext cx="11176000" cy="457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8000" y="4800600"/>
            <a:ext cx="50800" cy="457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11200" y="4876800"/>
            <a:ext cx="2032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跨页面同步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1000" y="4902200"/>
            <a:ext cx="8636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Practice↔Assessment同步验证通过；缓存命中100%；事件延迟&lt;100ms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8000" y="5321300"/>
            <a:ext cx="11176000" cy="457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486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08000" y="5321300"/>
            <a:ext cx="50800" cy="457200"/>
          </a:xfrm>
          <a:prstGeom prst="rect">
            <a:avLst/>
          </a:prstGeom>
          <a:solidFill>
            <a:srgbClr val="486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11200" y="5397500"/>
            <a:ext cx="2032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4868B0"/>
                </a:solidFill>
                <a:latin typeface="Microsoft YaHei"/>
                <a:ea typeface="Microsoft YaHei"/>
              </a:rPr>
              <a:t>并发性能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1000" y="5422900"/>
            <a:ext cx="8636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6Worker并发完成&lt;8s(平均6.2s)；失败重试3次全恢复；SSE无丢失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8000" y="5842000"/>
            <a:ext cx="11176000" cy="457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08000" y="5842000"/>
            <a:ext cx="50800" cy="457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11200" y="5918200"/>
            <a:ext cx="2032000" cy="254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0C24C4"/>
                </a:solidFill>
                <a:latin typeface="Microsoft YaHei"/>
                <a:ea typeface="Microsoft YaHei"/>
              </a:rPr>
              <a:t>构建兼容性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21000" y="5943600"/>
            <a:ext cx="8636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npm run build零错误；tsc类型检查通过；Win/Mac/Linux三平台兼容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273800"/>
            <a:ext cx="12192000" cy="584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8000" y="6427400"/>
            <a:ext cx="1117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系统评估结论：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功能完备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 + 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性能达标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 + 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工程稳健</a:t>
            </a:r>
            <a:r>
              <a:rPr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 — 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达到</a:t>
            </a:r>
            <a:r>
              <a:rPr sz="1800" b="1" dirty="0" err="1">
                <a:solidFill>
                  <a:srgbClr val="D6001C"/>
                </a:solidFill>
                <a:latin typeface="Microsoft YaHei"/>
                <a:ea typeface="Microsoft YaHei"/>
              </a:rPr>
              <a:t>生产级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交付标准</a:t>
            </a:r>
            <a:endParaRPr sz="1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pic>
        <p:nvPicPr>
          <p:cNvPr id="55" name="Picture 3" descr="图片1.jpg">
            <a:extLst>
              <a:ext uri="{FF2B5EF4-FFF2-40B4-BE49-F238E27FC236}">
                <a16:creationId xmlns:a16="http://schemas.microsoft.com/office/drawing/2014/main" id="{FE2C7FDB-4C2A-BDA2-667B-AB6F1EE6CF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0462" y="561974"/>
            <a:ext cx="2381538" cy="7080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400" y="127000"/>
            <a:ext cx="8890000" cy="30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04    </a:t>
            </a:r>
            <a:r>
              <a:rPr sz="1100">
                <a:solidFill>
                  <a:srgbClr val="CCCCCC"/>
                </a:solidFill>
                <a:latin typeface="Microsoft YaHei"/>
                <a:ea typeface="Microsoft YaHei"/>
              </a:rPr>
              <a:t>关键技术深挖与总结展望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76000" y="6680200"/>
            <a:ext cx="838200" cy="152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r"/>
            <a:r>
              <a:rPr sz="800" b="0">
                <a:solidFill>
                  <a:srgbClr val="AAAAAA"/>
                </a:solidFill>
                <a:latin typeface="Microsoft YaHei"/>
                <a:ea typeface="Microsoft YaHei"/>
              </a:rPr>
              <a:t>20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85800"/>
            <a:ext cx="457200" cy="381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8000" y="812800"/>
            <a:ext cx="11176000" cy="533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3200" b="1">
                <a:solidFill>
                  <a:srgbClr val="0C24C4"/>
                </a:solidFill>
                <a:latin typeface="Microsoft YaHei"/>
                <a:ea typeface="Microsoft YaHei"/>
              </a:rPr>
              <a:t>创新价值沉淀与未来演进方向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371600"/>
            <a:ext cx="11176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Microsoft YaHei"/>
                <a:ea typeface="Microsoft YaHei"/>
              </a:rPr>
              <a:t>架构/数据/交互/工程 4维度 5项创新 + 3大未来方向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1651000"/>
            <a:ext cx="11176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600" b="1">
                <a:solidFill>
                  <a:srgbClr val="0C24C4"/>
                </a:solidFill>
                <a:latin typeface="Microsoft YaHei"/>
                <a:ea typeface="Microsoft YaHei"/>
              </a:rPr>
              <a:t>5 项核心创新沉淀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000" y="2006600"/>
            <a:ext cx="2133600" cy="2209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8000" y="2006600"/>
            <a:ext cx="2133600" cy="50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000" y="2133600"/>
            <a:ext cx="18796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800" b="1">
                <a:solidFill>
                  <a:srgbClr val="0C24C4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2438400"/>
            <a:ext cx="1879600" cy="508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5智能体
协同框架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" y="2971800"/>
            <a:ext cx="1879600" cy="1143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MultiAgentScheduler调度
EventEmitter解耦
代码量减少40%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2006600"/>
            <a:ext cx="2133600" cy="2209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743200" y="2006600"/>
            <a:ext cx="2133600" cy="50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870200" y="2133600"/>
            <a:ext cx="18796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800" b="1">
                <a:solidFill>
                  <a:srgbClr val="0C24C4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0200" y="2438400"/>
            <a:ext cx="1879600" cy="508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6维动态
画像系统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70200" y="2971800"/>
            <a:ext cx="1879600" cy="1143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对话式+做题回流双更新
localStorage跨页面共享
下游prompt注入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78400" y="2006600"/>
            <a:ext cx="2133600" cy="2209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978400" y="2006600"/>
            <a:ext cx="2133600" cy="50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05400" y="2133600"/>
            <a:ext cx="18796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800" b="1">
                <a:solidFill>
                  <a:srgbClr val="0C24C4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5400" y="2438400"/>
            <a:ext cx="1879600" cy="508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结构化
路径节点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5400" y="2971800"/>
            <a:ext cx="1879600" cy="1143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绑定题库/模块ID
80%阈值自动标记
12预定义+AI生成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3600" y="2006600"/>
            <a:ext cx="2133600" cy="2209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213600" y="2006600"/>
            <a:ext cx="2133600" cy="50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340600" y="2133600"/>
            <a:ext cx="18796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800" b="1">
                <a:solidFill>
                  <a:srgbClr val="0C24C4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0600" y="2438400"/>
            <a:ext cx="1879600" cy="508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流式思考
可视化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40600" y="2971800"/>
            <a:ext cx="1879600" cy="1143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SSE打字机效果
&lt;thinking&gt;块可折叠
AbortSignal中断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48800" y="2006600"/>
            <a:ext cx="2133600" cy="2209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448800" y="2006600"/>
            <a:ext cx="2133600" cy="508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575800" y="2133600"/>
            <a:ext cx="18796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800" b="1">
                <a:solidFill>
                  <a:srgbClr val="0C24C4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75800" y="2438400"/>
            <a:ext cx="1879600" cy="508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Tutor
5项优化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75800" y="2971800"/>
            <a:ext cx="1879600" cy="1143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  <a:ea typeface="Microsoft YaHei"/>
              </a:rPr>
              <a:t>画像注入+缓存去重
追问链+点踩重生
4模式+生产级稳定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8000" y="4419600"/>
            <a:ext cx="11176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600" b="1">
                <a:solidFill>
                  <a:srgbClr val="D6001C"/>
                </a:solidFill>
                <a:latin typeface="Microsoft YaHei"/>
                <a:ea typeface="Microsoft YaHei"/>
              </a:rPr>
              <a:t>3 大未来演进方向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8000" y="4775200"/>
            <a:ext cx="3556000" cy="14224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90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8000" y="4775200"/>
            <a:ext cx="50800" cy="14224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85800" y="4851400"/>
            <a:ext cx="508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800" b="1">
                <a:solidFill>
                  <a:srgbClr val="0C24C4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8400" y="4851400"/>
            <a:ext cx="27178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  <a:ea typeface="Microsoft YaHei"/>
              </a:rPr>
              <a:t>多模态扩展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5156200"/>
            <a:ext cx="32004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D6001C"/>
                </a:solidFill>
                <a:latin typeface="Microsoft YaHei"/>
                <a:ea typeface="Microsoft YaHei"/>
              </a:rPr>
              <a:t>拍照搜题+语音问答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410200"/>
            <a:ext cx="3200400" cy="711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接入图像识别与语音交互大模型；拍照→OCR→解答；语音→ASR→TTS；手写批改；AI生成教学视频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67200" y="4775200"/>
            <a:ext cx="3556000" cy="14224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90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267200" y="4775200"/>
            <a:ext cx="50800" cy="14224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445000" y="4851400"/>
            <a:ext cx="508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800" b="1">
                <a:solidFill>
                  <a:srgbClr val="0C24C4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27600" y="4851400"/>
            <a:ext cx="27178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  <a:ea typeface="Microsoft YaHei"/>
              </a:rPr>
              <a:t>知识图谱构建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45000" y="5156200"/>
            <a:ext cx="32004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D6001C"/>
                </a:solidFill>
                <a:latin typeface="Microsoft YaHei"/>
                <a:ea typeface="Microsoft YaHei"/>
              </a:rPr>
              <a:t>标签匹配→逻辑推理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45000" y="5410200"/>
            <a:ext cx="3200400" cy="711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构建学科知识图谱(概念→前置→后继)；路径推荐基于图遍历；跨学科关联；知识点掌握度传播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26400" y="4775200"/>
            <a:ext cx="3556000" cy="14224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9050">
            <a:solidFill>
              <a:srgbClr val="0C2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8026400" y="4775200"/>
            <a:ext cx="50800" cy="14224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204200" y="4851400"/>
            <a:ext cx="508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800" b="1">
                <a:solidFill>
                  <a:srgbClr val="0C24C4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4851400"/>
            <a:ext cx="27178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  <a:ea typeface="Microsoft YaHei"/>
              </a:rPr>
              <a:t>跨用户协作网络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04200" y="5156200"/>
            <a:ext cx="3200400" cy="2286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200" b="1">
                <a:solidFill>
                  <a:srgbClr val="D6001C"/>
                </a:solidFill>
                <a:latin typeface="Microsoft YaHei"/>
                <a:ea typeface="Microsoft YaHei"/>
              </a:rPr>
              <a:t>个体→社交化协同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04200" y="5410200"/>
            <a:ext cx="3200400" cy="711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学习小组+目标+进度看板；同伴互评AI辅助仲裁；错题共享+讨论；排行榜与成就系统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273800"/>
            <a:ext cx="12192000" cy="5842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08000" y="6427400"/>
            <a:ext cx="1117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愿景：AI+教育的终局不是替代教师，而是让每个学生都拥有最懂自己的</a:t>
            </a:r>
            <a:r>
              <a:rPr sz="1800" b="1">
                <a:solidFill>
                  <a:srgbClr val="D6001C"/>
                </a:solidFill>
                <a:latin typeface="Microsoft YaHei"/>
                <a:ea typeface="Microsoft YaHei"/>
              </a:rPr>
              <a:t>专属学习智能体</a:t>
            </a:r>
            <a:endParaRPr sz="1800" b="1" dirty="0">
              <a:solidFill>
                <a:srgbClr val="D6001C"/>
              </a:solidFill>
              <a:latin typeface="Microsoft YaHei"/>
              <a:ea typeface="Microsoft YaHei"/>
            </a:endParaRPr>
          </a:p>
        </p:txBody>
      </p:sp>
      <p:pic>
        <p:nvPicPr>
          <p:cNvPr id="58" name="Picture 3" descr="图片1.jpg">
            <a:extLst>
              <a:ext uri="{FF2B5EF4-FFF2-40B4-BE49-F238E27FC236}">
                <a16:creationId xmlns:a16="http://schemas.microsoft.com/office/drawing/2014/main" id="{B18AF110-EE42-8280-431B-3DF8607CE8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0462" y="561974"/>
            <a:ext cx="2381538" cy="70802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2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16000" y="762000"/>
            <a:ext cx="10160000" cy="1143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Microsoft YaHei"/>
                <a:ea typeface="Microsoft YaHei"/>
              </a:rPr>
              <a:t>感谢聆听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000" y="1981200"/>
            <a:ext cx="10160000" cy="3048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400" b="0">
                <a:solidFill>
                  <a:srgbClr val="8899BB"/>
                </a:solidFill>
                <a:latin typeface="Microsoft YaHei"/>
                <a:ea typeface="Microsoft YaHei"/>
              </a:rPr>
              <a:t>THANK YOU FOR YOUR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842000" y="2413000"/>
            <a:ext cx="508000" cy="31750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6000" y="2819400"/>
            <a:ext cx="10160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项目概述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0000" y="3225800"/>
            <a:ext cx="9652000" cy="762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300" b="0">
                <a:solidFill>
                  <a:srgbClr val="AABBCC"/>
                </a:solidFill>
                <a:latin typeface="Microsoft YaHei"/>
                <a:ea typeface="Microsoft YaHei"/>
              </a:rPr>
              <a:t>赛题：第十五届中国软件杯·A3赛题  |  作品：学习智能体系统
技术栈：React 19 + TypeScript + Vite 5 + Ant Design 6 + Recharts
核心数据：576题库 · 92%判分一致率 · &lt;2s首字延迟 · 0严重缺陷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4318000"/>
            <a:ext cx="10160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致谢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0000" y="4699000"/>
            <a:ext cx="9652000" cy="6350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200" b="0">
                <a:solidFill>
                  <a:srgbClr val="8899BB"/>
                </a:solidFill>
                <a:latin typeface="Microsoft YaHei"/>
                <a:ea typeface="Microsoft YaHei"/>
              </a:rPr>
              <a:t>感谢评委老师的辛勤评审  |  感谢指导老师的悉心指导
本作品使用：React·TypeScript·Vite·Ant Design·Recharts·python-pptx·MiniMax API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26000" y="5588000"/>
            <a:ext cx="2540000" cy="508000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26000" y="5613400"/>
            <a:ext cx="2540000" cy="457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Q &amp;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6350000"/>
            <a:ext cx="10160000" cy="2794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[队伍名称]  ·  [学校名称]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6629400"/>
            <a:ext cx="10160000" cy="203200"/>
          </a:xfrm>
          <a:prstGeom prst="rect">
            <a:avLst/>
          </a:prstGeom>
          <a:noFill/>
        </p:spPr>
        <p:txBody>
          <a:bodyPr wrap="square" lIns="50800" tIns="38100" rIns="50800" bIns="38100" anchor="t">
            <a:spAutoFit/>
          </a:bodyPr>
          <a:lstStyle/>
          <a:p>
            <a:pPr algn="ctr"/>
            <a:r>
              <a:rPr sz="1100" b="0">
                <a:solidFill>
                  <a:srgbClr val="667799"/>
                </a:solidFill>
                <a:latin typeface="Microsoft YaHei"/>
                <a:ea typeface="Microsoft YaHei"/>
              </a:rPr>
              <a:t>2026.07  ·  第十五届中国软件杯·A3赛题  ·  [汇报人姓名] 汇报</a:t>
            </a:r>
          </a:p>
        </p:txBody>
      </p:sp>
      <p:sp>
        <p:nvSpPr>
          <p:cNvPr id="15" name="Oval 14"/>
          <p:cNvSpPr/>
          <p:nvPr/>
        </p:nvSpPr>
        <p:spPr>
          <a:xfrm>
            <a:off x="-762000" y="4826000"/>
            <a:ext cx="2286000" cy="2286000"/>
          </a:xfrm>
          <a:prstGeom prst="ellipse">
            <a:avLst/>
          </a:prstGeom>
          <a:solidFill>
            <a:srgbClr val="2A4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668000" y="4826000"/>
            <a:ext cx="2286000" cy="2286000"/>
          </a:xfrm>
          <a:prstGeom prst="ellipse">
            <a:avLst/>
          </a:prstGeom>
          <a:solidFill>
            <a:srgbClr val="2A4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3424</Words>
  <Application>Microsoft Office PowerPoint</Application>
  <PresentationFormat>宽屏</PresentationFormat>
  <Paragraphs>458</Paragraphs>
  <Slides>21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5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明翔 吴</cp:lastModifiedBy>
  <cp:revision>2</cp:revision>
  <dcterms:created xsi:type="dcterms:W3CDTF">2013-01-27T09:14:16Z</dcterms:created>
  <dcterms:modified xsi:type="dcterms:W3CDTF">2026-06-27T09:37:42Z</dcterms:modified>
  <cp:category/>
</cp:coreProperties>
</file>